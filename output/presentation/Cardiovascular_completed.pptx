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618a22786e4aab" /><Relationship Type="http://schemas.openxmlformats.org/officeDocument/2006/relationships/extended-properties" Target="/docProps/app.xml" Id="Rb12142b2992840dd" /><Relationship Type="http://schemas.openxmlformats.org/officeDocument/2006/relationships/officeDocument" Target="/ppt/presentation.xml" Id="Rbe754babfd5a408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4320baa5ac0419a"/>
  </p:sldMasterIdLst>
  <p:notesMasterIdLst>
    <p:notesMasterId xmlns:r="http://schemas.openxmlformats.org/officeDocument/2006/relationships" r:id="R78efb2a4c2a249d8"/>
  </p:notesMasterIdLst>
  <p:sldIdLst>
    <p:sldId xmlns:r="http://schemas.openxmlformats.org/officeDocument/2006/relationships" id="256" r:id="Rf90466b8ef19484a"/>
    <p:sldId xmlns:r="http://schemas.openxmlformats.org/officeDocument/2006/relationships" id="257" r:id="Rb8aaf40ae0e2487e"/>
    <p:sldId xmlns:r="http://schemas.openxmlformats.org/officeDocument/2006/relationships" id="258" r:id="Rc1b8e107f43a4908"/>
    <p:sldId xmlns:r="http://schemas.openxmlformats.org/officeDocument/2006/relationships" id="259" r:id="Rc6a5ee44c9af4f7b"/>
    <p:sldId xmlns:r="http://schemas.openxmlformats.org/officeDocument/2006/relationships" id="260" r:id="Rb5d787d89c5347c4"/>
    <p:sldId xmlns:r="http://schemas.openxmlformats.org/officeDocument/2006/relationships" id="261" r:id="R2b53de152f2d42db"/>
    <p:sldId xmlns:r="http://schemas.openxmlformats.org/officeDocument/2006/relationships" id="262" r:id="R07b3b7aeff324d6f"/>
    <p:sldId xmlns:r="http://schemas.openxmlformats.org/officeDocument/2006/relationships" id="263" r:id="R72ec615f2bb24ff5"/>
  </p:sldIdLst>
  <p:sldSz cx="18288000" cy="10287000"/>
  <p:notesSz cx="6858000" cy="9144000"/>
  <p:embeddedFontLst>
    <p:embeddedFont>
      <p:font typeface="Cooper Hewitt Heavy"/>
      <p:regular xmlns:r="http://schemas.openxmlformats.org/officeDocument/2006/relationships" r:id="Rbba068f158c846b7"/>
    </p:embeddedFont>
    <p:embeddedFont>
      <p:font typeface="Georgia Pro"/>
      <p:regular xmlns:r="http://schemas.openxmlformats.org/officeDocument/2006/relationships" r:id="R76ca5cebdb954683"/>
    </p:embeddedFont>
    <p:embeddedFont>
      <p:font typeface="Georgia Pro Bold"/>
      <p:regular xmlns:r="http://schemas.openxmlformats.org/officeDocument/2006/relationships" r:id="Rf83facb0350c4ba6"/>
    </p:embeddedFont>
    <p:embeddedFont>
      <p:font typeface="Cooper Hewitt Bold"/>
      <p:regular xmlns:r="http://schemas.openxmlformats.org/officeDocument/2006/relationships" r:id="R6a642c72b26b4eb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a77959fe300456e" /><Relationship Type="http://schemas.openxmlformats.org/officeDocument/2006/relationships/slideMaster" Target="/ppt/slideMasters/slideMaster1.xml" Id="R64320baa5ac0419a" /><Relationship Type="http://schemas.openxmlformats.org/officeDocument/2006/relationships/notesMaster" Target="/ppt/notesMasters/notesMaster1.xml" Id="R78efb2a4c2a249d8" /><Relationship Type="http://schemas.openxmlformats.org/officeDocument/2006/relationships/presProps" Target="/ppt/presProps.xml" Id="R4cfeaa127d3d4ad7" /><Relationship Type="http://schemas.openxmlformats.org/officeDocument/2006/relationships/viewProps" Target="/ppt/viewProps.xml" Id="Ree46adff983c4ffe" /><Relationship Type="http://schemas.openxmlformats.org/officeDocument/2006/relationships/tableStyles" Target="/ppt/tableStyles.xml" Id="Rc0cc8c244d97425b" /><Relationship Type="http://schemas.openxmlformats.org/officeDocument/2006/relationships/font" Target="/ppt/fonts/font.dat" Id="Rbba068f158c846b7" /><Relationship Type="http://schemas.openxmlformats.org/officeDocument/2006/relationships/font" Target="/ppt/fonts/font2.dat" Id="R76ca5cebdb954683" /><Relationship Type="http://schemas.openxmlformats.org/officeDocument/2006/relationships/font" Target="/ppt/fonts/font3.dat" Id="Rf83facb0350c4ba6" /><Relationship Type="http://schemas.openxmlformats.org/officeDocument/2006/relationships/font" Target="/ppt/fonts/font4.dat" Id="R6a642c72b26b4eb9" /><Relationship Type="http://schemas.openxmlformats.org/officeDocument/2006/relationships/slide" Target="/ppt/slides/slide1.xml" Id="Rf90466b8ef19484a" /><Relationship Type="http://schemas.openxmlformats.org/officeDocument/2006/relationships/slide" Target="/ppt/slides/slide2.xml" Id="Rb8aaf40ae0e2487e" /><Relationship Type="http://schemas.openxmlformats.org/officeDocument/2006/relationships/slide" Target="/ppt/slides/slide3.xml" Id="Rc1b8e107f43a4908" /><Relationship Type="http://schemas.openxmlformats.org/officeDocument/2006/relationships/slide" Target="/ppt/slides/slide4.xml" Id="Rc6a5ee44c9af4f7b" /><Relationship Type="http://schemas.openxmlformats.org/officeDocument/2006/relationships/slide" Target="/ppt/slides/slide5.xml" Id="Rb5d787d89c5347c4" /><Relationship Type="http://schemas.openxmlformats.org/officeDocument/2006/relationships/slide" Target="/ppt/slides/slide6.xml" Id="R2b53de152f2d42db" /><Relationship Type="http://schemas.openxmlformats.org/officeDocument/2006/relationships/slide" Target="/ppt/slides/slide7.xml" Id="R07b3b7aeff324d6f" /><Relationship Type="http://schemas.openxmlformats.org/officeDocument/2006/relationships/slide" Target="/ppt/slides/slide8.xml" Id="R72ec615f2bb24f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566b7ecb6a4e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965610dbf8499e" /><Relationship Type="http://schemas.openxmlformats.org/officeDocument/2006/relationships/notesMaster" Target="/ppt/notesMasters/notesMaster1.xml" Id="R19b33ffa03d04f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48e3b2c05c4a47" /><Relationship Type="http://schemas.openxmlformats.org/officeDocument/2006/relationships/notesMaster" Target="/ppt/notesMasters/notesMaster1.xml" Id="R15ea77c4962047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3bc93fee54133" /><Relationship Type="http://schemas.openxmlformats.org/officeDocument/2006/relationships/notesMaster" Target="/ppt/notesMasters/notesMaster1.xml" Id="Rbd22c24b758140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d940530fdf435f" /><Relationship Type="http://schemas.openxmlformats.org/officeDocument/2006/relationships/notesMaster" Target="/ppt/notesMasters/notesMaster1.xml" Id="R115553fa15b447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6f2c1f977a4665" /><Relationship Type="http://schemas.openxmlformats.org/officeDocument/2006/relationships/notesMaster" Target="/ppt/notesMasters/notesMaster1.xml" Id="Ra7572dbcad1048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894480fefe4673" /><Relationship Type="http://schemas.openxmlformats.org/officeDocument/2006/relationships/notesMaster" Target="/ppt/notesMasters/notesMaster1.xml" Id="R0f884b39b1504f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5f5b8faec94259" /><Relationship Type="http://schemas.openxmlformats.org/officeDocument/2006/relationships/notesMaster" Target="/ppt/notesMasters/notesMaster1.xml" Id="R39f773e42fed40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1ef75833eb466a" /><Relationship Type="http://schemas.openxmlformats.org/officeDocument/2006/relationships/notesMaster" Target="/ppt/notesMasters/notesMaster1.xml" Id="Rd6c1605d26dd42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includes the required baseline, bagging, boosting and heterogeneous voting models. Logistic Regression is highlighted because it was selected using validation F2 before test evaluation. Although CatBoost later had the highest test PR-AUC, the untouched test set did not determine or replace the declared winner.</a:t>
            </a:r>
          </a:p>
          <a:p xmlns:a="http://schemas.openxmlformats.org/drawingml/2006/main">
            <a:r>
              <a:t/>
            </a:r>
          </a:p>
          <a:p xmlns:a="http://schemas.openxmlformats.org/drawingml/2006/main">
            <a:r>
              <a:t>[Sources]</a:t>
            </a:r>
          </a:p>
          <a:p xmlns:a="http://schemas.openxmlformats.org/drawingml/2006/main">
            <a:r>
              <a:t>- /home/rrm/MCA/Machine Learning/CIA3/reports/final_model_comparison.csv</a:t>
            </a:r>
          </a:p>
          <a:p xmlns:a="http://schemas.openxmlformats.org/drawingml/2006/main">
            <a:r>
              <a:t>- /home/rrm/MCA/Machine Learning/CIA3/reports/model_selection_audit.csv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validation-selected winner was the class-weighted extended Logistic Regression model. Its test ROC-AUC was 0.794 and PR-AUC was 0.069, compared with a prevalence baseline of approximately 0.011. At the selected F2 threshold, precision and specificity improved, but recall decreased. The model identified 47 positive cases while missing 111, so it is only a proof of concept.</a:t>
            </a:r>
          </a:p>
          <a:p xmlns:a="http://schemas.openxmlformats.org/drawingml/2006/main">
            <a:r>
              <a:t/>
            </a:r>
          </a:p>
          <a:p xmlns:a="http://schemas.openxmlformats.org/drawingml/2006/main">
            <a:r>
              <a:t>[Sources]</a:t>
            </a:r>
          </a:p>
          <a:p xmlns:a="http://schemas.openxmlformats.org/drawingml/2006/main">
            <a:r>
              <a:t>- /home/rrm/MCA/Machine Learning/CIA3/reports/selected_model_operating_points.csv</a:t>
            </a:r>
          </a:p>
          <a:p xmlns:a="http://schemas.openxmlformats.org/drawingml/2006/main">
            <a:r>
              <a:t>- /home/rrm/MCA/Machine Learning/CIA3/reports/final_model_comparison.csv</a:t>
            </a:r>
          </a:p>
          <a:p xmlns:a="http://schemas.openxmlformats.org/drawingml/2006/main">
            <a:r>
              <a:t>- /home/rrm/MCA/Machine Learning/CIA3/reports/model_selection_audit.csv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SHAP showed that blood-pressure history, general health, smoking, education, sex, income, age and BMI were important. However, BRFSS is self-reported and cross-sectional, and healthcare-access differences may affect who receives a diagnosis. The model is not clinically validated and cannot predict the exact occurrence of a future heart attack.</a:t>
            </a:r>
          </a:p>
          <a:p xmlns:a="http://schemas.openxmlformats.org/drawingml/2006/main">
            <a:r>
              <a:t/>
            </a:r>
          </a:p>
          <a:p xmlns:a="http://schemas.openxmlformats.org/drawingml/2006/main">
            <a:r>
              <a:t>[Sources]</a:t>
            </a:r>
          </a:p>
          <a:p xmlns:a="http://schemas.openxmlformats.org/drawingml/2006/main">
            <a:r>
              <a:t>- /home/rrm/MCA/Machine Learning/CIA3/figures/shap/03_grouped_shap_importance.png</a:t>
            </a:r>
          </a:p>
          <a:p xmlns:a="http://schemas.openxmlformats.org/drawingml/2006/main">
            <a:r>
              <a:t>- /home/rrm/MCA/Machine Learning/CIA3/reports/ethics_and_limitations.md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7c1eb4ed8648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c797a26fb248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aea22808f740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f4456e1c5e4a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1ecededba04c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5ab2dbf5a740c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383efde88d64f8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4f425aad08d48d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c4fb1e90bfa47f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a8d82d48ce8488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39096a7a33c44f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998AE2-F22C-4E5D-BE6F-012AFE8564D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2E33957-2A68-4511-9046-65F21C92B13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44E77C0-4889-4532-9348-2401809369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78CA888-D81F-4623-8700-56E9B7F519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C2CC05D-5522-4A63-BEE8-BAF9CDF31D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EDF057-119F-4D6C-942D-027BB2B914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9DCD8BD-5EE4-48FF-B13D-F095527F8DA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3A19E10-BE4A-403E-AC34-D3D953F166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30279CE-D1DB-4CFE-9EE4-99DE7021F1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1937CB5-F130-4238-8912-06F6E50859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2C8EDC-59F3-4B7F-A965-58AB870EE5C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511D576-6930-4C99-8E96-71DF17AF84A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9D5D327-97FA-48B5-BE76-88FE11D706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DCDB7EF-6AA1-4C36-9875-F2B574E9EA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FBD44AE-849E-4779-96B1-9CC77578E2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96065B-6CEA-41EB-85BD-931EAE4648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B800EFA-750F-4366-885A-5B0C3675A2D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F60F591-097B-4759-A006-BC39818E6724}"/>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140D962-41A9-4B04-91B0-BD121067C9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94439CD-6240-4BD9-A4A2-B3C3756075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88CDBB8-012C-4120-9553-D5CC2A5C26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911D77-843F-447E-8D1D-A9B54DA693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8B6C98D-8EF5-4FF1-84F9-1DEC5198DAF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08FEAC-4417-439E-A301-5484B90B977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8B89757-DE15-4669-93A9-A939215EA384}"/>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20E41A5-79EB-40ED-8E84-A2EA87D4EF5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8F034AF1-FCCC-4BBE-B730-3D53C3C34B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878546C6-51C3-446E-9847-F515C41E10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D821ACF-D727-41A8-BDAB-DBD16154D8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BAF450-CE02-48CD-8881-EAC3E7F837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EE46A83-1026-4176-9E1A-8641D22154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4CE5946B-0BD5-4930-A3B1-830B07274B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CC18637-A478-483D-909A-74EF52A0DF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32DDBE8-B17B-49E9-86A3-91CCAC845C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C95B10A0-66C2-4959-9563-F1B8DD0FF7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F8641BC-8719-49BA-81B5-CE1C257D42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B89627-F19F-4973-8C11-7A683549BA1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01C167F-8A86-436B-AC71-EE57C9A4532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AB03514-4472-4935-8DCC-4ADA8709B43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45F0701-1177-4501-9CDD-6A1998EF37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C6E81937-0560-47B2-AD2A-9535E1DAAB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51B41C-7661-436C-8209-998112BF6D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49E664-451E-446E-9319-DFDC873DD8D1}"/>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2D5FAAE-4579-4B89-931B-5FAF8A5CBD3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08438FE-050F-4B7C-A531-11D660C9F5F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8E8B0E1-24F8-4173-8623-6C34434E32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1ECD2D6A-4D43-4335-A9AC-91903C6115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696CD6C-6E2D-49CB-A237-0CC3FA0823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A15AE-01C5-40AC-BCCE-14280213C4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1454AA1-2671-4A4C-BAE0-8FC25E1E72F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89C7045-FCAE-473A-8B8E-7FAEA16A2F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1783FC7A-2C39-4149-8329-C0B6A3EDF0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2AE8CB4-DBDD-4848-A73A-80A51057E0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34040A7-208C-4F81-8E14-C6BC032A8F74}"/>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A3025DD-D2AF-45ED-9E41-9F28AC3D55F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6196F6-919B-483C-9571-D91B5A949E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7A242C7-BB06-4689-B977-80AB721C7F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D2F3649-3CB4-4B99-8FFC-E59B43C2C4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a53e0175bf45e0" /><Relationship Type="http://schemas.openxmlformats.org/officeDocument/2006/relationships/slideLayout" Target="/ppt/slideLayouts/slideLayout1.xml" Id="Re0a50c9509d643f9" /><Relationship Type="http://schemas.openxmlformats.org/officeDocument/2006/relationships/slideLayout" Target="/ppt/slideLayouts/slideLayout2.xml" Id="R50a786dd9a6f40b5" /><Relationship Type="http://schemas.openxmlformats.org/officeDocument/2006/relationships/slideLayout" Target="/ppt/slideLayouts/slideLayout3.xml" Id="R0f7a40fb3daf4192" /><Relationship Type="http://schemas.openxmlformats.org/officeDocument/2006/relationships/slideLayout" Target="/ppt/slideLayouts/slideLayout4.xml" Id="R48f5953dd8b34e28" /><Relationship Type="http://schemas.openxmlformats.org/officeDocument/2006/relationships/slideLayout" Target="/ppt/slideLayouts/slideLayout5.xml" Id="R13bf874405cc4cf2" /><Relationship Type="http://schemas.openxmlformats.org/officeDocument/2006/relationships/slideLayout" Target="/ppt/slideLayouts/slideLayout6.xml" Id="Rdb7f3cfe4f91409a" /><Relationship Type="http://schemas.openxmlformats.org/officeDocument/2006/relationships/slideLayout" Target="/ppt/slideLayouts/slideLayout7.xml" Id="Rb54e28317f434086" /><Relationship Type="http://schemas.openxmlformats.org/officeDocument/2006/relationships/slideLayout" Target="/ppt/slideLayouts/slideLayout8.xml" Id="Rc1dae0b2536548b2" /><Relationship Type="http://schemas.openxmlformats.org/officeDocument/2006/relationships/slideLayout" Target="/ppt/slideLayouts/slideLayout9.xml" Id="R0d8473260d6a4f57" /><Relationship Type="http://schemas.openxmlformats.org/officeDocument/2006/relationships/slideLayout" Target="/ppt/slideLayouts/slideLayout10.xml" Id="R567d8394b0344374" /><Relationship Type="http://schemas.openxmlformats.org/officeDocument/2006/relationships/slideLayout" Target="/ppt/slideLayouts/slideLayout11.xml" Id="Re4164e4fcd1044e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D7DA8B-53BE-446C-85DF-C90504A8797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B0FAB74-44C3-4BFF-92A3-BC9B6D6170F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A17235F-BFE9-4B5C-ACAA-030DAF0AB1D5}"/>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08E5D3A-AE0F-4946-AF77-F394691222F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C717B86-2254-4AB2-8708-CE33F3BD1FE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a50c9509d643f9"/>
    <p:sldLayoutId xmlns:r="http://schemas.openxmlformats.org/officeDocument/2006/relationships" id="2147483650" r:id="R50a786dd9a6f40b5"/>
    <p:sldLayoutId xmlns:r="http://schemas.openxmlformats.org/officeDocument/2006/relationships" id="2147483651" r:id="R0f7a40fb3daf4192"/>
    <p:sldLayoutId xmlns:r="http://schemas.openxmlformats.org/officeDocument/2006/relationships" id="2147483652" r:id="R48f5953dd8b34e28"/>
    <p:sldLayoutId xmlns:r="http://schemas.openxmlformats.org/officeDocument/2006/relationships" id="2147483653" r:id="R13bf874405cc4cf2"/>
    <p:sldLayoutId xmlns:r="http://schemas.openxmlformats.org/officeDocument/2006/relationships" id="2147483654" r:id="Rdb7f3cfe4f91409a"/>
    <p:sldLayoutId xmlns:r="http://schemas.openxmlformats.org/officeDocument/2006/relationships" id="2147483655" r:id="Rb54e28317f434086"/>
    <p:sldLayoutId xmlns:r="http://schemas.openxmlformats.org/officeDocument/2006/relationships" id="2147483656" r:id="Rc1dae0b2536548b2"/>
    <p:sldLayoutId xmlns:r="http://schemas.openxmlformats.org/officeDocument/2006/relationships" id="2147483657" r:id="R0d8473260d6a4f57"/>
    <p:sldLayoutId xmlns:r="http://schemas.openxmlformats.org/officeDocument/2006/relationships" id="2147483658" r:id="R567d8394b0344374"/>
    <p:sldLayoutId xmlns:r="http://schemas.openxmlformats.org/officeDocument/2006/relationships" id="2147483659" r:id="Re4164e4fcd1044e9"/>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87806ca5522438d" /><Relationship Type="http://schemas.openxmlformats.org/officeDocument/2006/relationships/image" Target="/ppt/media/image.jpeg" Id="R856fd82a3ab94a65" /><Relationship Type="http://schemas.openxmlformats.org/officeDocument/2006/relationships/image" Target="/ppt/media/image.svg" Id="R47e711a33a12411f" /><Relationship Type="http://schemas.openxmlformats.org/officeDocument/2006/relationships/image" Target="/ppt/media/image.png" Id="R8cc475334f464693" /><Relationship Type="http://schemas.openxmlformats.org/officeDocument/2006/relationships/image" Target="/ppt/media/image2.svg" Id="R6de8997db26140d7" /><Relationship Type="http://schemas.openxmlformats.org/officeDocument/2006/relationships/image" Target="/ppt/media/image2.png" Id="R789f0cbc121d4d3c" /><Relationship Type="http://schemas.openxmlformats.org/officeDocument/2006/relationships/image" Target="/ppt/media/image3.svg" Id="Rbaa3d354d0224bae" /><Relationship Type="http://schemas.openxmlformats.org/officeDocument/2006/relationships/image" Target="/ppt/media/image3.png" Id="Rb93a31f6ce6b4e5b" /><Relationship Type="http://schemas.openxmlformats.org/officeDocument/2006/relationships/image" Target="/ppt/media/image4.svg" Id="Ree9ce1e392064eb6" /><Relationship Type="http://schemas.openxmlformats.org/officeDocument/2006/relationships/notesSlide" Target="/ppt/notesSlides/notesSlide1.xml" Id="R97cb4107421e44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10dc121c3a3419e" /><Relationship Type="http://schemas.openxmlformats.org/officeDocument/2006/relationships/image" Target="/ppt/media/image.jpeg" Id="Reba5e1c93e084a2a" /><Relationship Type="http://schemas.openxmlformats.org/officeDocument/2006/relationships/image" Target="/ppt/media/image.svg" Id="R5bedd716953c40f4" /><Relationship Type="http://schemas.openxmlformats.org/officeDocument/2006/relationships/image" Target="/ppt/media/image4.png" Id="Rce097f409645480b" /><Relationship Type="http://schemas.openxmlformats.org/officeDocument/2006/relationships/image" Target="/ppt/media/image5.svg" Id="Raf485c2237fe4bae" /><Relationship Type="http://schemas.openxmlformats.org/officeDocument/2006/relationships/image" Target="/ppt/media/image5.png" Id="R6d83e70d6d3e4c8e" /><Relationship Type="http://schemas.openxmlformats.org/officeDocument/2006/relationships/image" Target="/ppt/media/image6.svg" Id="R98a5ca0552a54994" /><Relationship Type="http://schemas.openxmlformats.org/officeDocument/2006/relationships/notesSlide" Target="/ppt/notesSlides/notesSlide2.xml" Id="R50f6ee4453584f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63ecf923a4748f8" /><Relationship Type="http://schemas.openxmlformats.org/officeDocument/2006/relationships/image" Target="/ppt/media/image6.png" Id="Rbf26a22de9e44a77" /><Relationship Type="http://schemas.openxmlformats.org/officeDocument/2006/relationships/image" Target="/ppt/media/image7.svg" Id="Rc3b305fd41844e1b" /><Relationship Type="http://schemas.openxmlformats.org/officeDocument/2006/relationships/image" Target="/ppt/media/image7.png" Id="Ra27c3652d0c64cc3" /><Relationship Type="http://schemas.openxmlformats.org/officeDocument/2006/relationships/image" Target="/ppt/media/image8.svg" Id="R8eccd9c3cfb143fd" /><Relationship Type="http://schemas.openxmlformats.org/officeDocument/2006/relationships/image" Target="/ppt/media/image5.png" Id="R24a0985ede7b4f0f" /><Relationship Type="http://schemas.openxmlformats.org/officeDocument/2006/relationships/image" Target="/ppt/media/image6.svg" Id="Ra461cfed1eb44329" /><Relationship Type="http://schemas.openxmlformats.org/officeDocument/2006/relationships/image" Target="/ppt/media/image8.png" Id="R486f9afbb2e04ced" /><Relationship Type="http://schemas.openxmlformats.org/officeDocument/2006/relationships/notesSlide" Target="/ppt/notesSlides/notesSlide3.xml" Id="R9262b74c04fd45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bf345eade4e487e" /><Relationship Type="http://schemas.openxmlformats.org/officeDocument/2006/relationships/image" Target="/ppt/media/image7.png" Id="R45bf9306288c4877" /><Relationship Type="http://schemas.openxmlformats.org/officeDocument/2006/relationships/image" Target="/ppt/media/image8.svg" Id="R45cf97a358044ba3" /><Relationship Type="http://schemas.openxmlformats.org/officeDocument/2006/relationships/image" Target="/ppt/media/image6.png" Id="R6ce7ec6b02e24e6e" /><Relationship Type="http://schemas.openxmlformats.org/officeDocument/2006/relationships/image" Target="/ppt/media/image7.svg" Id="R482ca97055944e03" /><Relationship Type="http://schemas.openxmlformats.org/officeDocument/2006/relationships/image" Target="/ppt/media/image9.png" Id="R0291754760cd411d" /><Relationship Type="http://schemas.openxmlformats.org/officeDocument/2006/relationships/notesSlide" Target="/ppt/notesSlides/notesSlide4.xml" Id="Rc1661f16bdf144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851749aa8834917" /><Relationship Type="http://schemas.openxmlformats.org/officeDocument/2006/relationships/image" Target="/ppt/media/image9.svg" Id="Rd9afdf995021461b" /><Relationship Type="http://schemas.openxmlformats.org/officeDocument/2006/relationships/image" Target="/ppt/media/image8.png" Id="R990fa5f09cf54e96" /><Relationship Type="http://schemas.openxmlformats.org/officeDocument/2006/relationships/image" Target="/ppt/media/image.jpeg" Id="R80990453a68e4684" /><Relationship Type="http://schemas.openxmlformats.org/officeDocument/2006/relationships/image" Target="/ppt/media/image.svg" Id="Re73003c9094b4fa9" /><Relationship Type="http://schemas.openxmlformats.org/officeDocument/2006/relationships/image" Target="/ppt/media/image4.png" Id="R0884ef8036e64439" /><Relationship Type="http://schemas.openxmlformats.org/officeDocument/2006/relationships/image" Target="/ppt/media/image5.svg" Id="R781e1bdb3b5a4b93" /><Relationship Type="http://schemas.openxmlformats.org/officeDocument/2006/relationships/notesSlide" Target="/ppt/notesSlides/notesSlide5.xml" Id="R9586aa4c3acd48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f649615339b4464" /><Relationship Type="http://schemas.openxmlformats.org/officeDocument/2006/relationships/image" Target="/ppt/media/image10.svg" Id="Rd3171e6f14534354" /><Relationship Type="http://schemas.openxmlformats.org/officeDocument/2006/relationships/image" Target="/ppt/media/image9.png" Id="R205a2dfdadc847ef" /><Relationship Type="http://schemas.openxmlformats.org/officeDocument/2006/relationships/image" Target="/ppt/media/image7.png" Id="Rf0a2f7ec7faf4eb7" /><Relationship Type="http://schemas.openxmlformats.org/officeDocument/2006/relationships/image" Target="/ppt/media/image8.svg" Id="R5a0a7d2c055a466e" /><Relationship Type="http://schemas.openxmlformats.org/officeDocument/2006/relationships/notesSlide" Target="/ppt/notesSlides/notesSlide6.xml" Id="R68f07622a3b14c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a6a70703ce84fa0" /><Relationship Type="http://schemas.openxmlformats.org/officeDocument/2006/relationships/image" Target="/ppt/media/image8.png" Id="R5e5e0942b7ce4b36" /><Relationship Type="http://schemas.openxmlformats.org/officeDocument/2006/relationships/image" Target="/ppt/media/image9.svg" Id="R7b1b8745108740ec" /><Relationship Type="http://schemas.openxmlformats.org/officeDocument/2006/relationships/image" Target="/ppt/media/image10.png" Id="Ra17f602b7b344e84" /><Relationship Type="http://schemas.openxmlformats.org/officeDocument/2006/relationships/image" Target="/ppt/media/image.jpeg" Id="Rcf24dfc8d8b547fc" /><Relationship Type="http://schemas.openxmlformats.org/officeDocument/2006/relationships/image" Target="/ppt/media/image.svg" Id="R1adf4416ced042e4" /><Relationship Type="http://schemas.openxmlformats.org/officeDocument/2006/relationships/image" Target="/ppt/media/image4.png" Id="R2a28658682024e2c" /><Relationship Type="http://schemas.openxmlformats.org/officeDocument/2006/relationships/image" Target="/ppt/media/image5.svg" Id="R6ae8df626e394b6b" /><Relationship Type="http://schemas.openxmlformats.org/officeDocument/2006/relationships/notesSlide" Target="/ppt/notesSlides/notesSlide7.xml" Id="R29af63d7f47e43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e45a5d54bdd4d6c" /><Relationship Type="http://schemas.openxmlformats.org/officeDocument/2006/relationships/image" Target="/ppt/media/image7.png" Id="R79503a5f6ca7430a" /><Relationship Type="http://schemas.openxmlformats.org/officeDocument/2006/relationships/image" Target="/ppt/media/image8.svg" Id="Rde1a596ce7d94193" /><Relationship Type="http://schemas.openxmlformats.org/officeDocument/2006/relationships/image" Target="/ppt/media/image.jpeg" Id="R314e1ce9393f4296" /><Relationship Type="http://schemas.openxmlformats.org/officeDocument/2006/relationships/image" Target="/ppt/media/image.svg" Id="Ra85569ad55d44672" /><Relationship Type="http://schemas.openxmlformats.org/officeDocument/2006/relationships/image" Target="/ppt/media/image2.png" Id="Re179012540c74982" /><Relationship Type="http://schemas.openxmlformats.org/officeDocument/2006/relationships/image" Target="/ppt/media/image3.svg" Id="Rc88955196a8647be" /><Relationship Type="http://schemas.openxmlformats.org/officeDocument/2006/relationships/image" Target="/ppt/media/image5.png" Id="R25bf1b52902d49bb" /><Relationship Type="http://schemas.openxmlformats.org/officeDocument/2006/relationships/image" Target="/ppt/media/image6.svg" Id="Rc40f12125f624e40" /><Relationship Type="http://schemas.openxmlformats.org/officeDocument/2006/relationships/notesSlide" Target="/ppt/notesSlides/notesSlide8.xml" Id="R4c13c1f06c41484a" /></Relationships>
</file>

<file path=ppt/slides/slide1.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A4A2B430-CF19-4E02-BF1B-477D69EC9A9F}"/>
              </a:ext>
            </a:extLst>
          </p:cNvPr>
          <p:cNvSpPr>
            <a:spLocks xmlns:a="http://schemas.openxmlformats.org/drawingml/2006/main" noGrp="1"/>
          </p:cNvSpPr>
          <p:nvPr/>
        </p:nvSpPr>
        <p:spPr>
          <a:xfrm xmlns:a="http://schemas.openxmlformats.org/drawingml/2006/main" rot="5400000" flipH="0" flipV="0">
            <a:off x="-7647180" y="-2088190"/>
            <a:ext cx="11908656" cy="14852065"/>
          </a:xfrm>
          <a:custGeom xmlns:a="http://schemas.openxmlformats.org/drawingml/2006/main">
            <a:rect l="l" t="t" r="r" b="b"/>
            <a:pathLst>
              <a:path w="11908656" h="14852065">
                <a:moveTo>
                  <a:pt x="0" y="0"/>
                </a:moveTo>
                <a:lnTo>
                  <a:pt x="11908655" y="0"/>
                </a:lnTo>
                <a:lnTo>
                  <a:pt x="11908655" y="14852065"/>
                </a:lnTo>
                <a:lnTo>
                  <a:pt x="0" y="14852065"/>
                </a:lnTo>
                <a:lnTo>
                  <a:pt x="0" y="0"/>
                </a:lnTo>
                <a:close/>
              </a:path>
            </a:pathLst>
          </a:custGeom>
          <a:blipFill xmlns:a="http://schemas.openxmlformats.org/drawingml/2006/main">
            <a:blip xmlns:r="http://schemas.openxmlformats.org/officeDocument/2006/relationships" r:embed="R856fd82a3ab94a65">
              <a:alphaModFix amt="25000"/>
              <a:extLst>
                <a:ext uri="{96DAC541-7B7A-43D3-8B79-37D633B846F1}">
                  <asvg:svgBlip xmlns:asvg="http://schemas.microsoft.com/office/drawing/2016/SVG/main" r:embed="R47e711a33a12411f"/>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6F3A209F-4D1A-43D7-B37E-2D9C7959A2F0}"/>
              </a:ext>
            </a:extLst>
          </p:cNvPr>
          <p:cNvSpPr>
            <a:spLocks xmlns:a="http://schemas.openxmlformats.org/drawingml/2006/main" noGrp="1"/>
          </p:cNvSpPr>
          <p:nvPr/>
        </p:nvSpPr>
        <p:spPr>
          <a:xfrm xmlns:a="http://schemas.openxmlformats.org/drawingml/2006/main" rot="0" flipH="0" flipV="0">
            <a:off x="714275" y="1028700"/>
            <a:ext cx="4566379" cy="7032394"/>
          </a:xfrm>
          <a:custGeom xmlns:a="http://schemas.openxmlformats.org/drawingml/2006/main">
            <a:rect l="l" t="t" r="r" b="b"/>
            <a:pathLst>
              <a:path w="4566379" h="7032394">
                <a:moveTo>
                  <a:pt x="0" y="0"/>
                </a:moveTo>
                <a:lnTo>
                  <a:pt x="4566379" y="0"/>
                </a:lnTo>
                <a:lnTo>
                  <a:pt x="4566379" y="7032394"/>
                </a:lnTo>
                <a:lnTo>
                  <a:pt x="0" y="7032394"/>
                </a:lnTo>
                <a:lnTo>
                  <a:pt x="0" y="0"/>
                </a:lnTo>
                <a:close/>
              </a:path>
            </a:pathLst>
          </a:custGeom>
          <a:blipFill xmlns:a="http://schemas.openxmlformats.org/drawingml/2006/main">
            <a:blip xmlns:r="http://schemas.openxmlformats.org/officeDocument/2006/relationships" r:embed="R8cc475334f464693">
              <a:extLst>
                <a:ext uri="{96DAC541-7B7A-43D3-8B79-37D633B846F1}">
                  <asvg:svgBlip xmlns:asvg="http://schemas.microsoft.com/office/drawing/2016/SVG/main" r:embed="R6de8997db26140d7"/>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939D3933-38C8-4287-A4B8-13940C45F9D0}"/>
              </a:ext>
            </a:extLst>
          </p:cNvPr>
          <p:cNvSpPr>
            <a:spLocks xmlns:a="http://schemas.openxmlformats.org/drawingml/2006/main" noGrp="1"/>
          </p:cNvSpPr>
          <p:nvPr/>
        </p:nvSpPr>
        <p:spPr>
          <a:xfrm xmlns:a="http://schemas.openxmlformats.org/drawingml/2006/main" rot="0" flipH="0" flipV="0">
            <a:off x="9151152" y="443435"/>
            <a:ext cx="9136848" cy="4700065"/>
          </a:xfrm>
          <a:custGeom xmlns:a="http://schemas.openxmlformats.org/drawingml/2006/main">
            <a:rect l="l" t="t" r="r" b="b"/>
            <a:pathLst>
              <a:path w="9136848" h="4700065">
                <a:moveTo>
                  <a:pt x="0" y="0"/>
                </a:moveTo>
                <a:lnTo>
                  <a:pt x="9136848" y="0"/>
                </a:lnTo>
                <a:lnTo>
                  <a:pt x="9136848" y="4700065"/>
                </a:lnTo>
                <a:lnTo>
                  <a:pt x="0" y="4700065"/>
                </a:lnTo>
                <a:lnTo>
                  <a:pt x="0" y="0"/>
                </a:lnTo>
                <a:close/>
              </a:path>
            </a:pathLst>
          </a:custGeom>
          <a:blipFill xmlns:a="http://schemas.openxmlformats.org/drawingml/2006/main">
            <a:blip xmlns:r="http://schemas.openxmlformats.org/officeDocument/2006/relationships" r:embed="R789f0cbc121d4d3c">
              <a:extLst>
                <a:ext uri="{96DAC541-7B7A-43D3-8B79-37D633B846F1}">
                  <asvg:svgBlip xmlns:asvg="http://schemas.microsoft.com/office/drawing/2016/SVG/main" r:embed="Rbaa3d354d0224bae"/>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13DAA2A2-7EC6-4F7D-A097-03027FE58013}"/>
              </a:ext>
            </a:extLst>
          </p:cNvPr>
          <p:cNvSpPr>
            <a:spLocks xmlns:a="http://schemas.openxmlformats.org/drawingml/2006/main" noGrp="1"/>
          </p:cNvSpPr>
          <p:nvPr/>
        </p:nvSpPr>
        <p:spPr>
          <a:xfrm xmlns:a="http://schemas.openxmlformats.org/drawingml/2006/main" rot="0" flipH="0" flipV="0">
            <a:off x="-223375" y="7749499"/>
            <a:ext cx="4245177" cy="2058417"/>
          </a:xfrm>
          <a:custGeom xmlns:a="http://schemas.openxmlformats.org/drawingml/2006/main">
            <a:rect l="l" t="t" r="r" b="b"/>
            <a:pathLst>
              <a:path w="4245177" h="2058417">
                <a:moveTo>
                  <a:pt x="0" y="0"/>
                </a:moveTo>
                <a:lnTo>
                  <a:pt x="4245177" y="0"/>
                </a:lnTo>
                <a:lnTo>
                  <a:pt x="4245177" y="2058417"/>
                </a:lnTo>
                <a:lnTo>
                  <a:pt x="0" y="2058417"/>
                </a:lnTo>
                <a:lnTo>
                  <a:pt x="0" y="0"/>
                </a:lnTo>
                <a:close/>
              </a:path>
            </a:pathLst>
          </a:custGeom>
          <a:blipFill xmlns:a="http://schemas.openxmlformats.org/drawingml/2006/main">
            <a:blip xmlns:r="http://schemas.openxmlformats.org/officeDocument/2006/relationships" r:embed="Rb93a31f6ce6b4e5b">
              <a:extLst>
                <a:ext uri="{96DAC541-7B7A-43D3-8B79-37D633B846F1}">
                  <asvg:svgBlip xmlns:asvg="http://schemas.microsoft.com/office/drawing/2016/SVG/main" r:embed="Ree9ce1e392064eb6"/>
                </a:ext>
              </a:extLst>
            </a:blip>
            <a:stretch>
              <a:fillRect l="0" t="0" r="0" b="0"/>
            </a:stretch>
          </a:blipFill>
        </p:spPr>
      </p:sp>
      <p:sp>
        <p:nvSpPr>
          <p:cNvPr id="6" name="TextBox 6">
            <a:extLst xmlns:a="http://schemas.openxmlformats.org/drawingml/2006/main">
              <a:ext uri="{FF2B5EF4-FFF2-40B4-BE49-F238E27FC236}">
                <a16:creationId xmlns:a16="http://schemas.microsoft.com/office/drawing/2014/main" id="{E932FAB1-9A20-4329-91E6-7DC565ABC00D}"/>
              </a:ext>
            </a:extLst>
          </p:cNvPr>
          <p:cNvSpPr>
            <a:spLocks xmlns:a="http://schemas.openxmlformats.org/drawingml/2006/main" noGrp="1"/>
          </p:cNvSpPr>
          <p:nvPr/>
        </p:nvSpPr>
        <p:spPr>
          <a:xfrm xmlns:a="http://schemas.openxmlformats.org/drawingml/2006/main" rot="0">
            <a:off x="5829951" y="4421072"/>
            <a:ext cx="12185142" cy="305922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7565"/>
              </a:lnSpc>
              <a:buNone/>
            </a:pPr>
            <a:r>
              <a:rPr sz="6815" b="1">
                <a:solidFill>
                  <a:srgbClr val="BF1218"/>
                </a:solidFill>
                <a:latin typeface="Cooper Hewitt Heavy"/>
                <a:ea typeface="Cooper Hewitt Heavy"/>
                <a:cs typeface="Cooper Hewitt Heavy"/>
              </a:rPr>
              <a:t>EXPLAIN</a:t>
            </a:r>
            <a:r>
              <a:rPr sz="6815" b="1">
                <a:solidFill>
                  <a:srgbClr val="BF1218"/>
                </a:solidFill>
                <a:latin typeface="Cooper Hewitt Heavy"/>
                <a:ea typeface="Cooper Hewitt Heavy"/>
                <a:cs typeface="Cooper Hewitt Heavy"/>
              </a:rPr>
              <a:t>ABLE PREDICTION OF PREMATURE HEART DISEASE AMONG YOUNG ADULTS</a:t>
            </a:r>
          </a:p>
        </p:txBody>
      </p:sp>
      <p:sp>
        <p:nvSpPr>
          <p:cNvPr id="7" name="Freeform 7">
            <a:extLst xmlns:a="http://schemas.openxmlformats.org/drawingml/2006/main">
              <a:ext uri="{FF2B5EF4-FFF2-40B4-BE49-F238E27FC236}">
                <a16:creationId xmlns:a16="http://schemas.microsoft.com/office/drawing/2014/main" id="{581563C5-F0B1-46FC-84BD-8CA7371D667C}"/>
              </a:ext>
            </a:extLst>
          </p:cNvPr>
          <p:cNvSpPr>
            <a:spLocks xmlns:a="http://schemas.openxmlformats.org/drawingml/2006/main" noGrp="1"/>
          </p:cNvSpPr>
          <p:nvPr/>
        </p:nvSpPr>
        <p:spPr>
          <a:xfrm xmlns:a="http://schemas.openxmlformats.org/drawingml/2006/main" rot="5400000" flipH="0" flipV="0">
            <a:off x="17701688" y="2523984"/>
            <a:ext cx="10712367" cy="13360095"/>
          </a:xfrm>
          <a:custGeom xmlns:a="http://schemas.openxmlformats.org/drawingml/2006/main">
            <a:rect l="l" t="t" r="r" b="b"/>
            <a:pathLst>
              <a:path w="10712367" h="13360095">
                <a:moveTo>
                  <a:pt x="0" y="0"/>
                </a:moveTo>
                <a:lnTo>
                  <a:pt x="10712367" y="0"/>
                </a:lnTo>
                <a:lnTo>
                  <a:pt x="10712367" y="13360095"/>
                </a:lnTo>
                <a:lnTo>
                  <a:pt x="0" y="13360095"/>
                </a:lnTo>
                <a:lnTo>
                  <a:pt x="0" y="0"/>
                </a:lnTo>
                <a:close/>
              </a:path>
            </a:pathLst>
          </a:custGeom>
          <a:blipFill xmlns:a="http://schemas.openxmlformats.org/drawingml/2006/main">
            <a:blip xmlns:r="http://schemas.openxmlformats.org/officeDocument/2006/relationships" r:embed="R856fd82a3ab94a65">
              <a:alphaModFix amt="25000"/>
              <a:extLst>
                <a:ext uri="{96DAC541-7B7A-43D3-8B79-37D633B846F1}">
                  <asvg:svgBlip xmlns:asvg="http://schemas.microsoft.com/office/drawing/2016/SVG/main" r:embed="R47e711a33a12411f"/>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2E9F4C09-E11A-404C-ACEC-9ED285BA9DBD}"/>
              </a:ext>
            </a:extLst>
          </p:cNvPr>
          <p:cNvSpPr>
            <a:spLocks xmlns:a="http://schemas.openxmlformats.org/drawingml/2006/main" noGrp="1"/>
          </p:cNvSpPr>
          <p:nvPr/>
        </p:nvSpPr>
        <p:spPr>
          <a:xfrm xmlns:a="http://schemas.openxmlformats.org/drawingml/2006/main" rot="0">
            <a:off x="5829951" y="7385049"/>
            <a:ext cx="4864175" cy="69817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617"/>
              </a:lnSpc>
              <a:spcBef>
                <a:spcPct val="0"/>
              </a:spcBef>
              <a:buNone/>
            </a:pPr>
            <a:r>
              <a:rPr sz="4012">
                <a:solidFill>
                  <a:srgbClr val="000000"/>
                </a:solidFill>
                <a:latin typeface="Georgia Pro"/>
                <a:ea typeface="Georgia Pro"/>
                <a:cs typeface="Georgia Pro"/>
              </a:rPr>
              <a:t>Presented by  </a:t>
            </a:r>
          </a:p>
        </p:txBody>
      </p:sp>
      <p:sp>
        <p:nvSpPr>
          <p:cNvPr id="9" name="TextBox 9">
            <a:extLst xmlns:a="http://schemas.openxmlformats.org/drawingml/2006/main">
              <a:ext uri="{FF2B5EF4-FFF2-40B4-BE49-F238E27FC236}">
                <a16:creationId xmlns:a16="http://schemas.microsoft.com/office/drawing/2014/main" id="{F077FDC3-3E54-40D7-B948-E644F9F43CA9}"/>
              </a:ext>
            </a:extLst>
          </p:cNvPr>
          <p:cNvSpPr>
            <a:spLocks xmlns:a="http://schemas.openxmlformats.org/drawingml/2006/main" noGrp="1"/>
          </p:cNvSpPr>
          <p:nvPr/>
        </p:nvSpPr>
        <p:spPr>
          <a:xfrm xmlns:a="http://schemas.openxmlformats.org/drawingml/2006/main" rot="0">
            <a:off x="5829951" y="7978448"/>
            <a:ext cx="6847623" cy="160779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6406"/>
              </a:lnSpc>
              <a:buNone/>
            </a:pPr>
            <a:r>
              <a:rPr sz="4576" b="1">
                <a:solidFill>
                  <a:srgbClr val="000000"/>
                </a:solidFill>
                <a:latin typeface="Georgia Pro Bold"/>
                <a:ea typeface="Georgia Pro Bold"/>
                <a:cs typeface="Georgia Pro Bold"/>
              </a:rPr>
              <a:t>Reno Reji Matthew</a:t>
            </a:r>
          </a:p>
          <a:p xmlns:a="http://schemas.openxmlformats.org/drawingml/2006/main">
            <a:pPr algn="l">
              <a:lnSpc>
                <a:spcPts val="6406"/>
              </a:lnSpc>
              <a:spcBef>
                <a:spcPct val="0"/>
              </a:spcBef>
              <a:buNone/>
            </a:pPr>
            <a:r>
              <a:rPr sz="4576" b="1">
                <a:solidFill>
                  <a:srgbClr val="000000"/>
                </a:solidFill>
                <a:latin typeface="Georgia Pro Bold"/>
                <a:ea typeface="Georgia Pro Bold"/>
                <a:cs typeface="Georgia Pro Bold"/>
              </a:rPr>
              <a:t>2547145</a:t>
            </a:r>
          </a:p>
        </p:txBody>
      </p:sp>
    </p:spTree>
    <p:extLst>
      <p:ext uri="{BB962C8B-B14F-4D97-AF65-F5344CB8AC3E}">
        <p14:creationId xmlns:p14="http://schemas.microsoft.com/office/powerpoint/2010/main" val="1143307219"/>
      </p:ext>
    </p:extLst>
  </p:cSld>
</p:sld>
</file>

<file path=ppt/slides/slide2.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DF2FF59-2C37-47D7-AE47-CB0014D8175A}"/>
              </a:ext>
            </a:extLst>
          </p:cNvPr>
          <p:cNvSpPr>
            <a:spLocks xmlns:a="http://schemas.openxmlformats.org/drawingml/2006/main" noGrp="1"/>
          </p:cNvSpPr>
          <p:nvPr/>
        </p:nvSpPr>
        <p:spPr>
          <a:xfrm xmlns:a="http://schemas.openxmlformats.org/drawingml/2006/main" rot="0" flipH="0" flipV="0">
            <a:off x="11736395" y="2625248"/>
            <a:ext cx="4289194" cy="4600682"/>
          </a:xfrm>
          <a:custGeom xmlns:a="http://schemas.openxmlformats.org/drawingml/2006/main">
            <a:rect l="l" t="t" r="r" b="b"/>
            <a:pathLst>
              <a:path w="812800" h="871827">
                <a:moveTo>
                  <a:pt x="0" y="0"/>
                </a:moveTo>
                <a:lnTo>
                  <a:pt x="812800" y="0"/>
                </a:lnTo>
                <a:lnTo>
                  <a:pt x="812800" y="871827"/>
                </a:lnTo>
                <a:lnTo>
                  <a:pt x="0" y="871827"/>
                </a:lnTo>
                <a:close/>
              </a:path>
            </a:pathLst>
          </a:custGeom>
          <a:solidFill xmlns:a="http://schemas.openxmlformats.org/drawingml/2006/main">
            <a:srgbClr val="EFA88F">
              <a:alpha val="37647"/>
            </a:srgbClr>
          </a:solidFill>
        </p:spPr>
      </p:sp>
      <p:sp>
        <p:nvSpPr>
          <p:cNvPr id="4" name="TextBox 4">
            <a:extLst xmlns:a="http://schemas.openxmlformats.org/drawingml/2006/main">
              <a:ext uri="{FF2B5EF4-FFF2-40B4-BE49-F238E27FC236}">
                <a16:creationId xmlns:a16="http://schemas.microsoft.com/office/drawing/2014/main" id="{E2751722-7FBC-4AF8-8784-407EC47EF2B0}"/>
              </a:ext>
            </a:extLst>
          </p:cNvPr>
          <p:cNvSpPr>
            <a:spLocks xmlns:a="http://schemas.openxmlformats.org/drawingml/2006/main" noGrp="1"/>
          </p:cNvSpPr>
          <p:nvPr/>
        </p:nvSpPr>
        <p:spPr>
          <a:xfrm xmlns:a="http://schemas.openxmlformats.org/drawingml/2006/main" rot="0" flipH="0" flipV="0">
            <a:off x="11736395" y="2424193"/>
            <a:ext cx="4289194" cy="48017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6" name="Freeform 6">
            <a:extLst xmlns:a="http://schemas.openxmlformats.org/drawingml/2006/main">
              <a:ext uri="{FF2B5EF4-FFF2-40B4-BE49-F238E27FC236}">
                <a16:creationId xmlns:a16="http://schemas.microsoft.com/office/drawing/2014/main" id="{A3D517BA-B038-4451-B0A1-34A505B2D060}"/>
              </a:ext>
            </a:extLst>
          </p:cNvPr>
          <p:cNvSpPr>
            <a:spLocks xmlns:a="http://schemas.openxmlformats.org/drawingml/2006/main" noGrp="1"/>
          </p:cNvSpPr>
          <p:nvPr/>
        </p:nvSpPr>
        <p:spPr>
          <a:xfrm xmlns:a="http://schemas.openxmlformats.org/drawingml/2006/main" rot="0" flipH="0" flipV="0">
            <a:off x="11300585" y="2882226"/>
            <a:ext cx="4378112" cy="5603983"/>
          </a:xfrm>
          <a:custGeom xmlns:a="http://schemas.openxmlformats.org/drawingml/2006/main">
            <a:rect l="l" t="t" r="r" b="b"/>
            <a:pathLst>
              <a:path w="635000" h="812800">
                <a:moveTo>
                  <a:pt x="635000" y="0"/>
                </a:moveTo>
                <a:lnTo>
                  <a:pt x="635000" y="698500"/>
                </a:lnTo>
                <a:lnTo>
                  <a:pt x="317500" y="812800"/>
                </a:lnTo>
                <a:lnTo>
                  <a:pt x="0" y="698500"/>
                </a:lnTo>
                <a:lnTo>
                  <a:pt x="0" y="0"/>
                </a:lnTo>
                <a:lnTo>
                  <a:pt x="635000" y="0"/>
                </a:lnTo>
                <a:close/>
              </a:path>
            </a:pathLst>
          </a:custGeom>
          <a:blipFill xmlns:a="http://schemas.openxmlformats.org/drawingml/2006/main">
            <a:blip xmlns:r="http://schemas.openxmlformats.org/officeDocument/2006/relationships" r:embed="Reba5e1c93e084a2a"/>
            <a:stretch>
              <a:fillRect l="-13999" t="0" r="-14000" b="0"/>
            </a:stretch>
          </a:blipFill>
        </p:spPr>
      </p:sp>
      <p:sp>
        <p:nvSpPr>
          <p:cNvPr id="7" name="Freeform 7">
            <a:extLst xmlns:a="http://schemas.openxmlformats.org/drawingml/2006/main">
              <a:ext uri="{FF2B5EF4-FFF2-40B4-BE49-F238E27FC236}">
                <a16:creationId xmlns:a16="http://schemas.microsoft.com/office/drawing/2014/main" id="{6898796B-E379-425D-81B6-DF23AFB2F041}"/>
              </a:ext>
            </a:extLst>
          </p:cNvPr>
          <p:cNvSpPr>
            <a:spLocks xmlns:a="http://schemas.openxmlformats.org/drawingml/2006/main" noGrp="1"/>
          </p:cNvSpPr>
          <p:nvPr/>
        </p:nvSpPr>
        <p:spPr>
          <a:xfrm xmlns:a="http://schemas.openxmlformats.org/drawingml/2006/main" rot="0" flipH="0" flipV="0">
            <a:off x="422791" y="627639"/>
            <a:ext cx="1807768" cy="2254587"/>
          </a:xfrm>
          <a:custGeom xmlns:a="http://schemas.openxmlformats.org/drawingml/2006/main">
            <a:rect l="l" t="t" r="r" b="b"/>
            <a:pathLst>
              <a:path w="1807768" h="2254587">
                <a:moveTo>
                  <a:pt x="0" y="0"/>
                </a:moveTo>
                <a:lnTo>
                  <a:pt x="1807768" y="0"/>
                </a:lnTo>
                <a:lnTo>
                  <a:pt x="1807768" y="2254587"/>
                </a:lnTo>
                <a:lnTo>
                  <a:pt x="0" y="2254587"/>
                </a:lnTo>
                <a:lnTo>
                  <a:pt x="0" y="0"/>
                </a:lnTo>
                <a:close/>
              </a:path>
            </a:pathLst>
          </a:custGeom>
          <a:blipFill xmlns:a="http://schemas.openxmlformats.org/drawingml/2006/main">
            <a:blip xmlns:r="http://schemas.openxmlformats.org/officeDocument/2006/relationships" r:embed="Reba5e1c93e084a2a">
              <a:extLst>
                <a:ext uri="{96DAC541-7B7A-43D3-8B79-37D633B846F1}">
                  <asvg:svgBlip xmlns:asvg="http://schemas.microsoft.com/office/drawing/2016/SVG/main" r:embed="R5bedd716953c40f4"/>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8A4BDD4B-E9C7-4F7B-8993-FCE3A568B0D8}"/>
              </a:ext>
            </a:extLst>
          </p:cNvPr>
          <p:cNvSpPr>
            <a:spLocks xmlns:a="http://schemas.openxmlformats.org/drawingml/2006/main" noGrp="1"/>
          </p:cNvSpPr>
          <p:nvPr/>
        </p:nvSpPr>
        <p:spPr>
          <a:xfrm xmlns:a="http://schemas.openxmlformats.org/drawingml/2006/main" rot="-10800000" flipH="0" flipV="0">
            <a:off x="16452906" y="8007500"/>
            <a:ext cx="1612788" cy="2011413"/>
          </a:xfrm>
          <a:custGeom xmlns:a="http://schemas.openxmlformats.org/drawingml/2006/main">
            <a:rect l="l" t="t" r="r" b="b"/>
            <a:pathLst>
              <a:path w="1612788" h="2011413">
                <a:moveTo>
                  <a:pt x="0" y="0"/>
                </a:moveTo>
                <a:lnTo>
                  <a:pt x="1612788" y="0"/>
                </a:lnTo>
                <a:lnTo>
                  <a:pt x="1612788" y="2011413"/>
                </a:lnTo>
                <a:lnTo>
                  <a:pt x="0" y="2011413"/>
                </a:lnTo>
                <a:lnTo>
                  <a:pt x="0" y="0"/>
                </a:lnTo>
                <a:close/>
              </a:path>
            </a:pathLst>
          </a:custGeom>
          <a:blipFill xmlns:a="http://schemas.openxmlformats.org/drawingml/2006/main">
            <a:blip xmlns:r="http://schemas.openxmlformats.org/officeDocument/2006/relationships" r:embed="Reba5e1c93e084a2a">
              <a:extLst>
                <a:ext uri="{96DAC541-7B7A-43D3-8B79-37D633B846F1}">
                  <asvg:svgBlip xmlns:asvg="http://schemas.microsoft.com/office/drawing/2016/SVG/main" r:embed="R5bedd716953c40f4"/>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AE2AB454-7C22-4579-9BC0-734E25702BCA}"/>
              </a:ext>
            </a:extLst>
          </p:cNvPr>
          <p:cNvSpPr>
            <a:spLocks xmlns:a="http://schemas.openxmlformats.org/drawingml/2006/main" noGrp="1"/>
          </p:cNvSpPr>
          <p:nvPr/>
        </p:nvSpPr>
        <p:spPr>
          <a:xfrm xmlns:a="http://schemas.openxmlformats.org/drawingml/2006/main" rot="0" flipH="0" flipV="0">
            <a:off x="-370865" y="9013206"/>
            <a:ext cx="1587311" cy="1587311"/>
          </a:xfrm>
          <a:custGeom xmlns:a="http://schemas.openxmlformats.org/drawingml/2006/main">
            <a:rect l="l" t="t" r="r" b="b"/>
            <a:pathLst>
              <a:path w="1587311" h="1587311">
                <a:moveTo>
                  <a:pt x="0" y="0"/>
                </a:moveTo>
                <a:lnTo>
                  <a:pt x="1587312" y="0"/>
                </a:lnTo>
                <a:lnTo>
                  <a:pt x="1587312" y="1587312"/>
                </a:lnTo>
                <a:lnTo>
                  <a:pt x="0" y="1587312"/>
                </a:lnTo>
                <a:lnTo>
                  <a:pt x="0" y="0"/>
                </a:lnTo>
                <a:close/>
              </a:path>
            </a:pathLst>
          </a:custGeom>
          <a:blipFill xmlns:a="http://schemas.openxmlformats.org/drawingml/2006/main">
            <a:blip xmlns:r="http://schemas.openxmlformats.org/officeDocument/2006/relationships" r:embed="Rce097f409645480b">
              <a:extLst>
                <a:ext uri="{96DAC541-7B7A-43D3-8B79-37D633B846F1}">
                  <asvg:svgBlip xmlns:asvg="http://schemas.microsoft.com/office/drawing/2016/SVG/main" r:embed="Raf485c2237fe4bae"/>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44473045-006A-4753-AA2A-ED3A89FF40FC}"/>
              </a:ext>
            </a:extLst>
          </p:cNvPr>
          <p:cNvSpPr>
            <a:spLocks xmlns:a="http://schemas.openxmlformats.org/drawingml/2006/main" noGrp="1"/>
          </p:cNvSpPr>
          <p:nvPr/>
        </p:nvSpPr>
        <p:spPr>
          <a:xfrm xmlns:a="http://schemas.openxmlformats.org/drawingml/2006/main" rot="0" flipH="0" flipV="0">
            <a:off x="16938890" y="-317971"/>
            <a:ext cx="1587311" cy="1587311"/>
          </a:xfrm>
          <a:custGeom xmlns:a="http://schemas.openxmlformats.org/drawingml/2006/main">
            <a:rect l="l" t="t" r="r" b="b"/>
            <a:pathLst>
              <a:path w="1587311" h="1587311">
                <a:moveTo>
                  <a:pt x="0" y="0"/>
                </a:moveTo>
                <a:lnTo>
                  <a:pt x="1587311" y="0"/>
                </a:lnTo>
                <a:lnTo>
                  <a:pt x="1587311" y="1587311"/>
                </a:lnTo>
                <a:lnTo>
                  <a:pt x="0" y="1587311"/>
                </a:lnTo>
                <a:lnTo>
                  <a:pt x="0" y="0"/>
                </a:lnTo>
                <a:close/>
              </a:path>
            </a:pathLst>
          </a:custGeom>
          <a:blipFill xmlns:a="http://schemas.openxmlformats.org/drawingml/2006/main">
            <a:blip xmlns:r="http://schemas.openxmlformats.org/officeDocument/2006/relationships" r:embed="Rce097f409645480b">
              <a:extLst>
                <a:ext uri="{96DAC541-7B7A-43D3-8B79-37D633B846F1}">
                  <asvg:svgBlip xmlns:asvg="http://schemas.microsoft.com/office/drawing/2016/SVG/main" r:embed="Raf485c2237fe4bae"/>
                </a:ext>
              </a:extLst>
            </a:blip>
            <a:stretch>
              <a:fillRect l="0" t="0" r="0" b="0"/>
            </a:stretch>
          </a:blipFill>
        </p:spPr>
      </p:sp>
      <p:sp>
        <p:nvSpPr>
          <p:cNvPr id="11" name="TextBox 11">
            <a:extLst xmlns:a="http://schemas.openxmlformats.org/drawingml/2006/main">
              <a:ext uri="{FF2B5EF4-FFF2-40B4-BE49-F238E27FC236}">
                <a16:creationId xmlns:a16="http://schemas.microsoft.com/office/drawing/2014/main" id="{D98D307D-5514-444E-A940-6948ED691F33}"/>
              </a:ext>
            </a:extLst>
          </p:cNvPr>
          <p:cNvSpPr>
            <a:spLocks xmlns:a="http://schemas.openxmlformats.org/drawingml/2006/main" noGrp="1"/>
          </p:cNvSpPr>
          <p:nvPr/>
        </p:nvSpPr>
        <p:spPr>
          <a:xfrm xmlns:a="http://schemas.openxmlformats.org/drawingml/2006/main" rot="0">
            <a:off x="2637836" y="1839428"/>
            <a:ext cx="8691283" cy="10427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6324"/>
              </a:lnSpc>
              <a:buNone/>
            </a:pPr>
            <a:r>
              <a:rPr sz="6800" b="1">
                <a:solidFill>
                  <a:srgbClr val="000000"/>
                </a:solidFill>
                <a:latin typeface="Cooper Hewitt Bold"/>
                <a:ea typeface="Cooper Hewitt Bold"/>
                <a:cs typeface="Cooper Hewitt Bold"/>
              </a:rPr>
              <a:t>Introduction</a:t>
            </a:r>
          </a:p>
        </p:txBody>
      </p:sp>
      <p:sp>
        <p:nvSpPr>
          <p:cNvPr id="12" name="Freeform 12">
            <a:extLst xmlns:a="http://schemas.openxmlformats.org/drawingml/2006/main">
              <a:ext uri="{FF2B5EF4-FFF2-40B4-BE49-F238E27FC236}">
                <a16:creationId xmlns:a16="http://schemas.microsoft.com/office/drawing/2014/main" id="{ADDF8A3E-554D-46FE-ACBE-DE993AC645DA}"/>
              </a:ext>
            </a:extLst>
          </p:cNvPr>
          <p:cNvSpPr>
            <a:spLocks xmlns:a="http://schemas.openxmlformats.org/drawingml/2006/main" noGrp="1"/>
          </p:cNvSpPr>
          <p:nvPr/>
        </p:nvSpPr>
        <p:spPr>
          <a:xfrm xmlns:a="http://schemas.openxmlformats.org/drawingml/2006/main" rot="0" flipH="0" flipV="0">
            <a:off x="2069833" y="3561785"/>
            <a:ext cx="967889" cy="830625"/>
          </a:xfrm>
          <a:custGeom xmlns:a="http://schemas.openxmlformats.org/drawingml/2006/main">
            <a:rect l="l" t="t" r="r" b="b"/>
            <a:pathLst>
              <a:path w="967889" h="830625">
                <a:moveTo>
                  <a:pt x="0" y="0"/>
                </a:moveTo>
                <a:lnTo>
                  <a:pt x="967889" y="0"/>
                </a:lnTo>
                <a:lnTo>
                  <a:pt x="967889" y="830625"/>
                </a:lnTo>
                <a:lnTo>
                  <a:pt x="0" y="830625"/>
                </a:lnTo>
                <a:lnTo>
                  <a:pt x="0" y="0"/>
                </a:lnTo>
                <a:close/>
              </a:path>
            </a:pathLst>
          </a:custGeom>
          <a:blipFill xmlns:a="http://schemas.openxmlformats.org/drawingml/2006/main">
            <a:blip xmlns:r="http://schemas.openxmlformats.org/officeDocument/2006/relationships" r:embed="R6d83e70d6d3e4c8e">
              <a:extLst>
                <a:ext uri="{96DAC541-7B7A-43D3-8B79-37D633B846F1}">
                  <asvg:svgBlip xmlns:asvg="http://schemas.microsoft.com/office/drawing/2016/SVG/main" r:embed="R98a5ca0552a54994"/>
                </a:ext>
              </a:extLst>
            </a:blip>
            <a:stretch>
              <a:fillRect l="0" t="0" r="0" b="0"/>
            </a:stretch>
          </a:blipFill>
        </p:spPr>
      </p:sp>
      <p:sp>
        <p:nvSpPr>
          <p:cNvPr id="13" name="TextBox 13">
            <a:extLst xmlns:a="http://schemas.openxmlformats.org/drawingml/2006/main">
              <a:ext uri="{FF2B5EF4-FFF2-40B4-BE49-F238E27FC236}">
                <a16:creationId xmlns:a16="http://schemas.microsoft.com/office/drawing/2014/main" id="{4CEBEC4A-ABBC-47CB-8031-8CC7DEE0460B}"/>
              </a:ext>
            </a:extLst>
          </p:cNvPr>
          <p:cNvSpPr>
            <a:spLocks xmlns:a="http://schemas.openxmlformats.org/drawingml/2006/main" noGrp="1"/>
          </p:cNvSpPr>
          <p:nvPr/>
        </p:nvSpPr>
        <p:spPr>
          <a:xfrm xmlns:a="http://schemas.openxmlformats.org/drawingml/2006/main" rot="0">
            <a:off x="3242581" y="3590867"/>
            <a:ext cx="4497867" cy="68673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9"/>
              </a:lnSpc>
              <a:spcBef>
                <a:spcPct val="0"/>
              </a:spcBef>
              <a:buNone/>
            </a:pPr>
            <a:r>
              <a:rPr sz="3985">
                <a:solidFill>
                  <a:srgbClr val="000000"/>
                </a:solidFill>
                <a:latin typeface="Georgia Pro"/>
                <a:ea typeface="Georgia Pro"/>
                <a:cs typeface="Georgia Pro"/>
              </a:rPr>
              <a:t>MISSON HEALTH</a:t>
            </a:r>
          </a:p>
        </p:txBody>
      </p:sp>
      <p:sp>
        <p:nvSpPr>
          <p:cNvPr id="14" name="TextBox 14">
            <a:extLst xmlns:a="http://schemas.openxmlformats.org/drawingml/2006/main">
              <a:ext uri="{FF2B5EF4-FFF2-40B4-BE49-F238E27FC236}">
                <a16:creationId xmlns:a16="http://schemas.microsoft.com/office/drawing/2014/main" id="{7733B0F0-0B31-4755-B654-0C2BE3397469}"/>
              </a:ext>
            </a:extLst>
          </p:cNvPr>
          <p:cNvSpPr>
            <a:spLocks xmlns:a="http://schemas.openxmlformats.org/drawingml/2006/main" noGrp="1"/>
          </p:cNvSpPr>
          <p:nvPr/>
        </p:nvSpPr>
        <p:spPr>
          <a:xfrm xmlns:a="http://schemas.openxmlformats.org/drawingml/2006/main" rot="0">
            <a:off x="3242581" y="4723298"/>
            <a:ext cx="4497867" cy="68673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9"/>
              </a:lnSpc>
              <a:spcBef>
                <a:spcPct val="0"/>
              </a:spcBef>
              <a:buNone/>
            </a:pPr>
            <a:r>
              <a:rPr sz="3985">
                <a:solidFill>
                  <a:srgbClr val="000000"/>
                </a:solidFill>
                <a:latin typeface="Georgia Pro"/>
                <a:ea typeface="Georgia Pro"/>
                <a:cs typeface="Georgia Pro"/>
              </a:rPr>
              <a:t>Adults aged 18–39</a:t>
            </a:r>
          </a:p>
        </p:txBody>
      </p:sp>
      <p:sp>
        <p:nvSpPr>
          <p:cNvPr id="15" name="TextBox 15">
            <a:extLst xmlns:a="http://schemas.openxmlformats.org/drawingml/2006/main">
              <a:ext uri="{FF2B5EF4-FFF2-40B4-BE49-F238E27FC236}">
                <a16:creationId xmlns:a16="http://schemas.microsoft.com/office/drawing/2014/main" id="{CB6443F7-68D4-4E77-A679-A531A36A8122}"/>
              </a:ext>
            </a:extLst>
          </p:cNvPr>
          <p:cNvSpPr>
            <a:spLocks xmlns:a="http://schemas.openxmlformats.org/drawingml/2006/main" noGrp="1"/>
          </p:cNvSpPr>
          <p:nvPr/>
        </p:nvSpPr>
        <p:spPr>
          <a:xfrm xmlns:a="http://schemas.openxmlformats.org/drawingml/2006/main" rot="0">
            <a:off x="3242581" y="5855728"/>
            <a:ext cx="7685748" cy="13889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9"/>
              </a:lnSpc>
              <a:spcBef>
                <a:spcPct val="0"/>
              </a:spcBef>
              <a:buNone/>
            </a:pPr>
            <a:r>
              <a:rPr sz="3985">
                <a:solidFill>
                  <a:srgbClr val="000000"/>
                </a:solidFill>
                <a:latin typeface="Georgia Pro"/>
                <a:ea typeface="Georgia Pro"/>
                <a:cs typeface="Georgia Pro"/>
              </a:rPr>
              <a:t>Non-invasive lifestyle and health indicators</a:t>
            </a:r>
          </a:p>
        </p:txBody>
      </p:sp>
      <p:sp>
        <p:nvSpPr>
          <p:cNvPr id="16" name="Freeform 16">
            <a:extLst xmlns:a="http://schemas.openxmlformats.org/drawingml/2006/main">
              <a:ext uri="{FF2B5EF4-FFF2-40B4-BE49-F238E27FC236}">
                <a16:creationId xmlns:a16="http://schemas.microsoft.com/office/drawing/2014/main" id="{BA65F688-C941-48AE-B082-9ED89D95786C}"/>
              </a:ext>
            </a:extLst>
          </p:cNvPr>
          <p:cNvSpPr>
            <a:spLocks xmlns:a="http://schemas.openxmlformats.org/drawingml/2006/main" noGrp="1"/>
          </p:cNvSpPr>
          <p:nvPr/>
        </p:nvSpPr>
        <p:spPr>
          <a:xfrm xmlns:a="http://schemas.openxmlformats.org/drawingml/2006/main" rot="0" flipH="0" flipV="0">
            <a:off x="2069833" y="4722316"/>
            <a:ext cx="967889" cy="830625"/>
          </a:xfrm>
          <a:custGeom xmlns:a="http://schemas.openxmlformats.org/drawingml/2006/main">
            <a:rect l="l" t="t" r="r" b="b"/>
            <a:pathLst>
              <a:path w="967889" h="830625">
                <a:moveTo>
                  <a:pt x="0" y="0"/>
                </a:moveTo>
                <a:lnTo>
                  <a:pt x="967889" y="0"/>
                </a:lnTo>
                <a:lnTo>
                  <a:pt x="967889" y="830625"/>
                </a:lnTo>
                <a:lnTo>
                  <a:pt x="0" y="830625"/>
                </a:lnTo>
                <a:lnTo>
                  <a:pt x="0" y="0"/>
                </a:lnTo>
                <a:close/>
              </a:path>
            </a:pathLst>
          </a:custGeom>
          <a:blipFill xmlns:a="http://schemas.openxmlformats.org/drawingml/2006/main">
            <a:blip xmlns:r="http://schemas.openxmlformats.org/officeDocument/2006/relationships" r:embed="R6d83e70d6d3e4c8e">
              <a:extLst>
                <a:ext uri="{96DAC541-7B7A-43D3-8B79-37D633B846F1}">
                  <asvg:svgBlip xmlns:asvg="http://schemas.microsoft.com/office/drawing/2016/SVG/main" r:embed="R98a5ca0552a54994"/>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F1404B02-73DA-43F8-9D5C-190FEB6D3BDE}"/>
              </a:ext>
            </a:extLst>
          </p:cNvPr>
          <p:cNvSpPr>
            <a:spLocks xmlns:a="http://schemas.openxmlformats.org/drawingml/2006/main" noGrp="1"/>
          </p:cNvSpPr>
          <p:nvPr/>
        </p:nvSpPr>
        <p:spPr>
          <a:xfrm xmlns:a="http://schemas.openxmlformats.org/drawingml/2006/main" rot="0" flipH="0" flipV="0">
            <a:off x="2069833" y="5882846"/>
            <a:ext cx="967889" cy="830625"/>
          </a:xfrm>
          <a:custGeom xmlns:a="http://schemas.openxmlformats.org/drawingml/2006/main">
            <a:rect l="l" t="t" r="r" b="b"/>
            <a:pathLst>
              <a:path w="967889" h="830625">
                <a:moveTo>
                  <a:pt x="0" y="0"/>
                </a:moveTo>
                <a:lnTo>
                  <a:pt x="967889" y="0"/>
                </a:lnTo>
                <a:lnTo>
                  <a:pt x="967889" y="830625"/>
                </a:lnTo>
                <a:lnTo>
                  <a:pt x="0" y="830625"/>
                </a:lnTo>
                <a:lnTo>
                  <a:pt x="0" y="0"/>
                </a:lnTo>
                <a:close/>
              </a:path>
            </a:pathLst>
          </a:custGeom>
          <a:blipFill xmlns:a="http://schemas.openxmlformats.org/drawingml/2006/main">
            <a:blip xmlns:r="http://schemas.openxmlformats.org/officeDocument/2006/relationships" r:embed="R6d83e70d6d3e4c8e">
              <a:extLst>
                <a:ext uri="{96DAC541-7B7A-43D3-8B79-37D633B846F1}">
                  <asvg:svgBlip xmlns:asvg="http://schemas.microsoft.com/office/drawing/2016/SVG/main" r:embed="R98a5ca0552a54994"/>
                </a:ext>
              </a:extLst>
            </a:blip>
            <a:stretch>
              <a:fillRect l="0" t="0" r="0" b="0"/>
            </a:stretch>
          </a:blipFill>
        </p:spPr>
      </p:sp>
    </p:spTree>
    <p:extLst>
      <p:ext uri="{BB962C8B-B14F-4D97-AF65-F5344CB8AC3E}">
        <p14:creationId xmlns:p14="http://schemas.microsoft.com/office/powerpoint/2010/main" val="1918863912"/>
      </p:ext>
    </p:extLst>
  </p:cSld>
</p:sld>
</file>

<file path=ppt/slides/slide3.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80A8A465-1AA0-498D-A157-E0DC9D67BC9B}"/>
              </a:ext>
            </a:extLst>
          </p:cNvPr>
          <p:cNvSpPr>
            <a:spLocks xmlns:a="http://schemas.openxmlformats.org/drawingml/2006/main" noGrp="1"/>
          </p:cNvSpPr>
          <p:nvPr/>
        </p:nvSpPr>
        <p:spPr>
          <a:xfrm xmlns:a="http://schemas.openxmlformats.org/drawingml/2006/main" rot="0" flipH="0" flipV="0">
            <a:off x="5173974" y="104798"/>
            <a:ext cx="6869943" cy="10049118"/>
          </a:xfrm>
          <a:custGeom xmlns:a="http://schemas.openxmlformats.org/drawingml/2006/main">
            <a:rect l="l" t="t" r="r" b="b"/>
            <a:pathLst>
              <a:path w="6869943" h="10049118">
                <a:moveTo>
                  <a:pt x="0" y="0"/>
                </a:moveTo>
                <a:lnTo>
                  <a:pt x="6869943" y="0"/>
                </a:lnTo>
                <a:lnTo>
                  <a:pt x="6869943" y="10049118"/>
                </a:lnTo>
                <a:lnTo>
                  <a:pt x="0" y="10049118"/>
                </a:lnTo>
                <a:lnTo>
                  <a:pt x="0" y="0"/>
                </a:lnTo>
                <a:close/>
              </a:path>
            </a:pathLst>
          </a:custGeom>
          <a:blipFill xmlns:a="http://schemas.openxmlformats.org/drawingml/2006/main">
            <a:blip xmlns:r="http://schemas.openxmlformats.org/officeDocument/2006/relationships" r:embed="Rbf26a22de9e44a77">
              <a:alphaModFix amt="34000"/>
              <a:extLst>
                <a:ext uri="{96DAC541-7B7A-43D3-8B79-37D633B846F1}">
                  <asvg:svgBlip xmlns:asvg="http://schemas.microsoft.com/office/drawing/2016/SVG/main" r:embed="Rc3b305fd41844e1b"/>
                </a:ext>
              </a:extLst>
            </a:blip>
            <a:stretch>
              <a:fillRect l="0" t="0" r="0" b="0"/>
            </a:stretch>
          </a:blipFill>
        </p:spPr>
      </p:sp>
      <p:sp>
        <p:nvSpPr>
          <p:cNvPr id="3" name="TextBox 3">
            <a:extLst xmlns:a="http://schemas.openxmlformats.org/drawingml/2006/main">
              <a:ext uri="{FF2B5EF4-FFF2-40B4-BE49-F238E27FC236}">
                <a16:creationId xmlns:a16="http://schemas.microsoft.com/office/drawing/2014/main" id="{64B2EB98-0BA0-4F66-B6C1-236BC9773077}"/>
              </a:ext>
            </a:extLst>
          </p:cNvPr>
          <p:cNvSpPr>
            <a:spLocks xmlns:a="http://schemas.openxmlformats.org/drawingml/2006/main" noGrp="1"/>
          </p:cNvSpPr>
          <p:nvPr/>
        </p:nvSpPr>
        <p:spPr>
          <a:xfrm xmlns:a="http://schemas.openxmlformats.org/drawingml/2006/main" rot="0">
            <a:off x="3921313" y="1235110"/>
            <a:ext cx="9375266" cy="10427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6324"/>
              </a:lnSpc>
              <a:buNone/>
            </a:pPr>
            <a:r>
              <a:rPr sz="6800" b="1">
                <a:solidFill>
                  <a:srgbClr val="000000"/>
                </a:solidFill>
                <a:latin typeface="Cooper Hewitt Bold"/>
                <a:ea typeface="Cooper Hewitt Bold"/>
                <a:cs typeface="Cooper Hewitt Bold"/>
              </a:rPr>
              <a:t>D</a:t>
            </a:r>
            <a:r>
              <a:rPr sz="6800" b="1">
                <a:solidFill>
                  <a:srgbClr val="000000"/>
                </a:solidFill>
                <a:latin typeface="Cooper Hewitt Bold"/>
                <a:ea typeface="Cooper Hewitt Bold"/>
                <a:cs typeface="Cooper Hewitt Bold"/>
              </a:rPr>
              <a:t>ata</a:t>
            </a:r>
            <a:r>
              <a:rPr sz="6800" b="1">
                <a:solidFill>
                  <a:srgbClr val="000000"/>
                </a:solidFill>
                <a:latin typeface="Cooper Hewitt Bold"/>
                <a:ea typeface="Cooper Hewitt Bold"/>
                <a:cs typeface="Cooper Hewitt Bold"/>
              </a:rPr>
              <a:t>set and problem</a:t>
            </a:r>
          </a:p>
        </p:txBody>
      </p:sp>
      <p:sp>
        <p:nvSpPr>
          <p:cNvPr id="4" name="Freeform 4">
            <a:extLst xmlns:a="http://schemas.openxmlformats.org/drawingml/2006/main">
              <a:ext uri="{FF2B5EF4-FFF2-40B4-BE49-F238E27FC236}">
                <a16:creationId xmlns:a16="http://schemas.microsoft.com/office/drawing/2014/main" id="{98D4C9F2-32FA-493A-9CB6-448F378B2608}"/>
              </a:ext>
            </a:extLst>
          </p:cNvPr>
          <p:cNvSpPr>
            <a:spLocks xmlns:a="http://schemas.openxmlformats.org/drawingml/2006/main" noGrp="1"/>
          </p:cNvSpPr>
          <p:nvPr/>
        </p:nvSpPr>
        <p:spPr>
          <a:xfrm xmlns:a="http://schemas.openxmlformats.org/drawingml/2006/main" rot="0" flipH="0" flipV="0">
            <a:off x="16422240" y="6136710"/>
            <a:ext cx="2152294" cy="4320299"/>
          </a:xfrm>
          <a:custGeom xmlns:a="http://schemas.openxmlformats.org/drawingml/2006/main">
            <a:rect l="l" t="t" r="r" b="b"/>
            <a:pathLst>
              <a:path w="2152294" h="4320299">
                <a:moveTo>
                  <a:pt x="0" y="0"/>
                </a:moveTo>
                <a:lnTo>
                  <a:pt x="2152295" y="0"/>
                </a:lnTo>
                <a:lnTo>
                  <a:pt x="2152295" y="4320299"/>
                </a:lnTo>
                <a:lnTo>
                  <a:pt x="0" y="4320299"/>
                </a:lnTo>
                <a:lnTo>
                  <a:pt x="0" y="0"/>
                </a:lnTo>
                <a:close/>
              </a:path>
            </a:pathLst>
          </a:custGeom>
          <a:blipFill xmlns:a="http://schemas.openxmlformats.org/drawingml/2006/main">
            <a:blip xmlns:r="http://schemas.openxmlformats.org/officeDocument/2006/relationships" r:embed="Ra27c3652d0c64cc3">
              <a:extLst>
                <a:ext uri="{96DAC541-7B7A-43D3-8B79-37D633B846F1}">
                  <asvg:svgBlip xmlns:asvg="http://schemas.microsoft.com/office/drawing/2016/SVG/main" r:embed="R8eccd9c3cfb143fd"/>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FA183537-2EE1-4516-AEE8-2F1C12752047}"/>
              </a:ext>
            </a:extLst>
          </p:cNvPr>
          <p:cNvSpPr>
            <a:spLocks xmlns:a="http://schemas.openxmlformats.org/drawingml/2006/main" noGrp="1"/>
          </p:cNvSpPr>
          <p:nvPr/>
        </p:nvSpPr>
        <p:spPr>
          <a:xfrm xmlns:a="http://schemas.openxmlformats.org/drawingml/2006/main" rot="-5400000" flipH="0" flipV="1">
            <a:off x="695096" y="-1317114"/>
            <a:ext cx="2047276" cy="4109495"/>
          </a:xfrm>
          <a:custGeom xmlns:a="http://schemas.openxmlformats.org/drawingml/2006/main">
            <a:rect l="l" t="t" r="r" b="b"/>
            <a:pathLst>
              <a:path w="2047276" h="4109495">
                <a:moveTo>
                  <a:pt x="0" y="4109494"/>
                </a:moveTo>
                <a:lnTo>
                  <a:pt x="2047275" y="4109494"/>
                </a:lnTo>
                <a:lnTo>
                  <a:pt x="2047275" y="0"/>
                </a:lnTo>
                <a:lnTo>
                  <a:pt x="0" y="0"/>
                </a:lnTo>
                <a:lnTo>
                  <a:pt x="0" y="4109494"/>
                </a:lnTo>
                <a:close/>
              </a:path>
            </a:pathLst>
          </a:custGeom>
          <a:blipFill xmlns:a="http://schemas.openxmlformats.org/drawingml/2006/main">
            <a:blip xmlns:r="http://schemas.openxmlformats.org/officeDocument/2006/relationships" r:embed="Ra27c3652d0c64cc3">
              <a:extLst>
                <a:ext uri="{96DAC541-7B7A-43D3-8B79-37D633B846F1}">
                  <asvg:svgBlip xmlns:asvg="http://schemas.microsoft.com/office/drawing/2016/SVG/main" r:embed="R8eccd9c3cfb143fd"/>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81D079A6-94CF-4574-B9C6-AEFA5AAA833B}"/>
              </a:ext>
            </a:extLst>
          </p:cNvPr>
          <p:cNvSpPr>
            <a:spLocks xmlns:a="http://schemas.openxmlformats.org/drawingml/2006/main" noGrp="1"/>
          </p:cNvSpPr>
          <p:nvPr/>
        </p:nvSpPr>
        <p:spPr>
          <a:xfrm xmlns:a="http://schemas.openxmlformats.org/drawingml/2006/main" rot="0" flipH="0" flipV="0">
            <a:off x="1279763" y="2775963"/>
            <a:ext cx="836805" cy="718131"/>
          </a:xfrm>
          <a:custGeom xmlns:a="http://schemas.openxmlformats.org/drawingml/2006/main">
            <a:rect l="l" t="t" r="r" b="b"/>
            <a:pathLst>
              <a:path w="1115741" h="957509">
                <a:moveTo>
                  <a:pt x="0" y="0"/>
                </a:moveTo>
                <a:lnTo>
                  <a:pt x="1115741" y="0"/>
                </a:lnTo>
                <a:lnTo>
                  <a:pt x="1115741" y="957509"/>
                </a:lnTo>
                <a:lnTo>
                  <a:pt x="0" y="957509"/>
                </a:lnTo>
                <a:lnTo>
                  <a:pt x="0" y="0"/>
                </a:lnTo>
                <a:close/>
              </a:path>
            </a:pathLst>
          </a:custGeom>
          <a:blipFill xmlns:a="http://schemas.openxmlformats.org/drawingml/2006/main">
            <a:blip xmlns:r="http://schemas.openxmlformats.org/officeDocument/2006/relationships" r:embed="R24a0985ede7b4f0f">
              <a:extLst>
                <a:ext uri="{96DAC541-7B7A-43D3-8B79-37D633B846F1}">
                  <asvg:svgBlip xmlns:asvg="http://schemas.microsoft.com/office/drawing/2016/SVG/main" r:embed="Ra461cfed1eb44329"/>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509D4138-629D-4C52-80DD-AF42979113EA}"/>
              </a:ext>
            </a:extLst>
          </p:cNvPr>
          <p:cNvSpPr>
            <a:spLocks xmlns:a="http://schemas.openxmlformats.org/drawingml/2006/main" noGrp="1"/>
          </p:cNvSpPr>
          <p:nvPr/>
        </p:nvSpPr>
        <p:spPr>
          <a:xfrm xmlns:a="http://schemas.openxmlformats.org/drawingml/2006/main" rot="0" flipH="0" flipV="0">
            <a:off x="2293682" y="2818071"/>
            <a:ext cx="3888710" cy="57805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823"/>
              </a:lnSpc>
              <a:spcBef>
                <a:spcPct val="0"/>
              </a:spcBef>
              <a:buNone/>
            </a:pPr>
            <a:r>
              <a:rPr sz="3445">
                <a:solidFill>
                  <a:srgbClr val="000000"/>
                </a:solidFill>
                <a:latin typeface="Georgia Pro"/>
                <a:ea typeface="Georgia Pro"/>
                <a:cs typeface="Georgia Pro"/>
              </a:rPr>
              <a:t>CDC BRFSS 2023</a:t>
            </a:r>
          </a:p>
        </p:txBody>
      </p:sp>
      <p:sp>
        <p:nvSpPr>
          <p:cNvPr id="9" name="TextBox 9">
            <a:extLst xmlns:a="http://schemas.openxmlformats.org/drawingml/2006/main">
              <a:ext uri="{FF2B5EF4-FFF2-40B4-BE49-F238E27FC236}">
                <a16:creationId xmlns:a16="http://schemas.microsoft.com/office/drawing/2014/main" id="{CCE20C54-AA39-442E-AFF5-6A8F2286975A}"/>
              </a:ext>
            </a:extLst>
          </p:cNvPr>
          <p:cNvSpPr>
            <a:spLocks xmlns:a="http://schemas.openxmlformats.org/drawingml/2006/main" noGrp="1"/>
          </p:cNvSpPr>
          <p:nvPr/>
        </p:nvSpPr>
        <p:spPr>
          <a:xfrm xmlns:a="http://schemas.openxmlformats.org/drawingml/2006/main" rot="0" flipH="0" flipV="0">
            <a:off x="2293682" y="3797134"/>
            <a:ext cx="6035840" cy="57805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823"/>
              </a:lnSpc>
              <a:spcBef>
                <a:spcPct val="0"/>
              </a:spcBef>
              <a:buNone/>
            </a:pPr>
            <a:r>
              <a:rPr sz="3445">
                <a:solidFill>
                  <a:srgbClr val="000000"/>
                </a:solidFill>
                <a:latin typeface="Georgia Pro"/>
                <a:ea typeface="Georgia Pro"/>
                <a:cs typeface="Georgia Pro"/>
              </a:rPr>
              <a:t>4,33,323 original respondents</a:t>
            </a:r>
          </a:p>
        </p:txBody>
      </p:sp>
      <p:sp>
        <p:nvSpPr>
          <p:cNvPr id="10" name="TextBox 10">
            <a:extLst xmlns:a="http://schemas.openxmlformats.org/drawingml/2006/main">
              <a:ext uri="{FF2B5EF4-FFF2-40B4-BE49-F238E27FC236}">
                <a16:creationId xmlns:a16="http://schemas.microsoft.com/office/drawing/2014/main" id="{1712C73C-163F-4508-8DAB-5AFA2E469296}"/>
              </a:ext>
            </a:extLst>
          </p:cNvPr>
          <p:cNvSpPr>
            <a:spLocks xmlns:a="http://schemas.openxmlformats.org/drawingml/2006/main" noGrp="1"/>
          </p:cNvSpPr>
          <p:nvPr/>
        </p:nvSpPr>
        <p:spPr>
          <a:xfrm xmlns:a="http://schemas.openxmlformats.org/drawingml/2006/main" rot="0" flipH="0" flipV="0">
            <a:off x="2293682" y="4776197"/>
            <a:ext cx="6644849" cy="57805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823"/>
              </a:lnSpc>
              <a:spcBef>
                <a:spcPct val="0"/>
              </a:spcBef>
              <a:buNone/>
            </a:pPr>
            <a:r>
              <a:rPr sz="3445">
                <a:solidFill>
                  <a:srgbClr val="000000"/>
                </a:solidFill>
                <a:latin typeface="Georgia Pro"/>
                <a:ea typeface="Georgia Pro"/>
                <a:cs typeface="Georgia Pro"/>
              </a:rPr>
              <a:t>99,114 valid young-adult records</a:t>
            </a:r>
          </a:p>
        </p:txBody>
      </p:sp>
      <p:sp>
        <p:nvSpPr>
          <p:cNvPr id="11" name="Freeform 11">
            <a:extLst xmlns:a="http://schemas.openxmlformats.org/drawingml/2006/main">
              <a:ext uri="{FF2B5EF4-FFF2-40B4-BE49-F238E27FC236}">
                <a16:creationId xmlns:a16="http://schemas.microsoft.com/office/drawing/2014/main" id="{972D521F-8930-4594-B26E-71F26AF7265F}"/>
              </a:ext>
            </a:extLst>
          </p:cNvPr>
          <p:cNvSpPr>
            <a:spLocks xmlns:a="http://schemas.openxmlformats.org/drawingml/2006/main" noGrp="1"/>
          </p:cNvSpPr>
          <p:nvPr/>
        </p:nvSpPr>
        <p:spPr>
          <a:xfrm xmlns:a="http://schemas.openxmlformats.org/drawingml/2006/main" rot="0" flipH="0" flipV="0">
            <a:off x="1279763" y="3779320"/>
            <a:ext cx="836805" cy="718131"/>
          </a:xfrm>
          <a:custGeom xmlns:a="http://schemas.openxmlformats.org/drawingml/2006/main">
            <a:rect l="l" t="t" r="r" b="b"/>
            <a:pathLst>
              <a:path w="1115741" h="957509">
                <a:moveTo>
                  <a:pt x="0" y="0"/>
                </a:moveTo>
                <a:lnTo>
                  <a:pt x="1115741" y="0"/>
                </a:lnTo>
                <a:lnTo>
                  <a:pt x="1115741" y="957508"/>
                </a:lnTo>
                <a:lnTo>
                  <a:pt x="0" y="957508"/>
                </a:lnTo>
                <a:lnTo>
                  <a:pt x="0" y="0"/>
                </a:lnTo>
                <a:close/>
              </a:path>
            </a:pathLst>
          </a:custGeom>
          <a:blipFill xmlns:a="http://schemas.openxmlformats.org/drawingml/2006/main">
            <a:blip xmlns:r="http://schemas.openxmlformats.org/officeDocument/2006/relationships" r:embed="R24a0985ede7b4f0f">
              <a:extLst>
                <a:ext uri="{96DAC541-7B7A-43D3-8B79-37D633B846F1}">
                  <asvg:svgBlip xmlns:asvg="http://schemas.microsoft.com/office/drawing/2016/SVG/main" r:embed="Ra461cfed1eb44329"/>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68D5F089-BE7C-4508-A536-DCD07F091772}"/>
              </a:ext>
            </a:extLst>
          </p:cNvPr>
          <p:cNvSpPr>
            <a:spLocks xmlns:a="http://schemas.openxmlformats.org/drawingml/2006/main" noGrp="1"/>
          </p:cNvSpPr>
          <p:nvPr/>
        </p:nvSpPr>
        <p:spPr>
          <a:xfrm xmlns:a="http://schemas.openxmlformats.org/drawingml/2006/main" rot="0" flipH="0" flipV="0">
            <a:off x="1279763" y="4782677"/>
            <a:ext cx="836805" cy="718131"/>
          </a:xfrm>
          <a:custGeom xmlns:a="http://schemas.openxmlformats.org/drawingml/2006/main">
            <a:rect l="l" t="t" r="r" b="b"/>
            <a:pathLst>
              <a:path w="1115741" h="957509">
                <a:moveTo>
                  <a:pt x="0" y="0"/>
                </a:moveTo>
                <a:lnTo>
                  <a:pt x="1115741" y="0"/>
                </a:lnTo>
                <a:lnTo>
                  <a:pt x="1115741" y="957509"/>
                </a:lnTo>
                <a:lnTo>
                  <a:pt x="0" y="957509"/>
                </a:lnTo>
                <a:lnTo>
                  <a:pt x="0" y="0"/>
                </a:lnTo>
                <a:close/>
              </a:path>
            </a:pathLst>
          </a:custGeom>
          <a:blipFill xmlns:a="http://schemas.openxmlformats.org/drawingml/2006/main">
            <a:blip xmlns:r="http://schemas.openxmlformats.org/officeDocument/2006/relationships" r:embed="R24a0985ede7b4f0f">
              <a:extLst>
                <a:ext uri="{96DAC541-7B7A-43D3-8B79-37D633B846F1}">
                  <asvg:svgBlip xmlns:asvg="http://schemas.microsoft.com/office/drawing/2016/SVG/main" r:embed="Ra461cfed1eb44329"/>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E741E5B8-6717-4138-904F-B69E49D7DB74}"/>
              </a:ext>
            </a:extLst>
          </p:cNvPr>
          <p:cNvSpPr>
            <a:spLocks xmlns:a="http://schemas.openxmlformats.org/drawingml/2006/main" noGrp="1"/>
          </p:cNvSpPr>
          <p:nvPr/>
        </p:nvSpPr>
        <p:spPr>
          <a:xfrm xmlns:a="http://schemas.openxmlformats.org/drawingml/2006/main" rot="0" flipH="0" flipV="0">
            <a:off x="1279763" y="5789548"/>
            <a:ext cx="836805" cy="718131"/>
          </a:xfrm>
          <a:custGeom xmlns:a="http://schemas.openxmlformats.org/drawingml/2006/main">
            <a:rect l="l" t="t" r="r" b="b"/>
            <a:pathLst>
              <a:path w="1115741" h="957509">
                <a:moveTo>
                  <a:pt x="0" y="0"/>
                </a:moveTo>
                <a:lnTo>
                  <a:pt x="1115741" y="0"/>
                </a:lnTo>
                <a:lnTo>
                  <a:pt x="1115741" y="957509"/>
                </a:lnTo>
                <a:lnTo>
                  <a:pt x="0" y="957509"/>
                </a:lnTo>
                <a:lnTo>
                  <a:pt x="0" y="0"/>
                </a:lnTo>
                <a:close/>
              </a:path>
            </a:pathLst>
          </a:custGeom>
          <a:blipFill xmlns:a="http://schemas.openxmlformats.org/drawingml/2006/main">
            <a:blip xmlns:r="http://schemas.openxmlformats.org/officeDocument/2006/relationships" r:embed="R24a0985ede7b4f0f">
              <a:extLst>
                <a:ext uri="{96DAC541-7B7A-43D3-8B79-37D633B846F1}">
                  <asvg:svgBlip xmlns:asvg="http://schemas.microsoft.com/office/drawing/2016/SVG/main" r:embed="Ra461cfed1eb44329"/>
                </a:ext>
              </a:extLst>
            </a:blip>
            <a:stretch>
              <a:fillRect l="0" t="0" r="0" b="0"/>
            </a:stretch>
          </a:blipFill>
        </p:spPr>
      </p:sp>
      <p:sp>
        <p:nvSpPr>
          <p:cNvPr id="14" name="TextBox 14">
            <a:extLst xmlns:a="http://schemas.openxmlformats.org/drawingml/2006/main">
              <a:ext uri="{FF2B5EF4-FFF2-40B4-BE49-F238E27FC236}">
                <a16:creationId xmlns:a16="http://schemas.microsoft.com/office/drawing/2014/main" id="{7CE0DAA0-D6CF-4279-829C-911177C8C1FB}"/>
              </a:ext>
            </a:extLst>
          </p:cNvPr>
          <p:cNvSpPr>
            <a:spLocks xmlns:a="http://schemas.openxmlformats.org/drawingml/2006/main" noGrp="1"/>
          </p:cNvSpPr>
          <p:nvPr/>
        </p:nvSpPr>
        <p:spPr>
          <a:xfrm xmlns:a="http://schemas.openxmlformats.org/drawingml/2006/main" rot="0" flipH="0" flipV="0">
            <a:off x="2293682" y="5831657"/>
            <a:ext cx="3888710" cy="57805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823"/>
              </a:lnSpc>
              <a:spcBef>
                <a:spcPct val="0"/>
              </a:spcBef>
              <a:buNone/>
            </a:pPr>
            <a:r>
              <a:rPr sz="3445">
                <a:solidFill>
                  <a:srgbClr val="000000"/>
                </a:solidFill>
                <a:latin typeface="Georgia Pro"/>
                <a:ea typeface="Georgia Pro"/>
                <a:cs typeface="Georgia Pro"/>
              </a:rPr>
              <a:t>1,050 positive cases</a:t>
            </a:r>
          </a:p>
        </p:txBody>
      </p:sp>
      <p:sp>
        <p:nvSpPr>
          <p:cNvPr id="15" name="TextBox 15">
            <a:extLst xmlns:a="http://schemas.openxmlformats.org/drawingml/2006/main">
              <a:ext uri="{FF2B5EF4-FFF2-40B4-BE49-F238E27FC236}">
                <a16:creationId xmlns:a16="http://schemas.microsoft.com/office/drawing/2014/main" id="{579BE192-7FD6-4965-AD5D-DD5DBE6696B5}"/>
              </a:ext>
            </a:extLst>
          </p:cNvPr>
          <p:cNvSpPr>
            <a:spLocks xmlns:a="http://schemas.openxmlformats.org/drawingml/2006/main" noGrp="1"/>
          </p:cNvSpPr>
          <p:nvPr/>
        </p:nvSpPr>
        <p:spPr>
          <a:xfrm xmlns:a="http://schemas.openxmlformats.org/drawingml/2006/main" rot="0" flipH="0" flipV="0">
            <a:off x="2293682" y="6810720"/>
            <a:ext cx="8270251" cy="57805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823"/>
              </a:lnSpc>
              <a:spcBef>
                <a:spcPct val="0"/>
              </a:spcBef>
              <a:buNone/>
            </a:pPr>
            <a:r>
              <a:rPr sz="3445">
                <a:solidFill>
                  <a:srgbClr val="000000"/>
                </a:solidFill>
                <a:latin typeface="Georgia Pro"/>
                <a:ea typeface="Georgia Pro"/>
                <a:cs typeface="Georgia Pro"/>
              </a:rPr>
              <a:t>Class imbalance: 1 positive to 93 negatives</a:t>
            </a:r>
          </a:p>
        </p:txBody>
      </p:sp>
      <p:sp>
        <p:nvSpPr>
          <p:cNvPr id="16" name="Freeform 16">
            <a:extLst xmlns:a="http://schemas.openxmlformats.org/drawingml/2006/main">
              <a:ext uri="{FF2B5EF4-FFF2-40B4-BE49-F238E27FC236}">
                <a16:creationId xmlns:a16="http://schemas.microsoft.com/office/drawing/2014/main" id="{301E8CF5-82C5-4FE2-AEAC-8D3AED1771ED}"/>
              </a:ext>
            </a:extLst>
          </p:cNvPr>
          <p:cNvSpPr>
            <a:spLocks xmlns:a="http://schemas.openxmlformats.org/drawingml/2006/main" noGrp="1"/>
          </p:cNvSpPr>
          <p:nvPr/>
        </p:nvSpPr>
        <p:spPr>
          <a:xfrm xmlns:a="http://schemas.openxmlformats.org/drawingml/2006/main" rot="0" flipH="0" flipV="0">
            <a:off x="1279763" y="6792906"/>
            <a:ext cx="836805" cy="718131"/>
          </a:xfrm>
          <a:custGeom xmlns:a="http://schemas.openxmlformats.org/drawingml/2006/main">
            <a:rect l="l" t="t" r="r" b="b"/>
            <a:pathLst>
              <a:path w="1115741" h="957509">
                <a:moveTo>
                  <a:pt x="0" y="0"/>
                </a:moveTo>
                <a:lnTo>
                  <a:pt x="1115741" y="0"/>
                </a:lnTo>
                <a:lnTo>
                  <a:pt x="1115741" y="957509"/>
                </a:lnTo>
                <a:lnTo>
                  <a:pt x="0" y="957509"/>
                </a:lnTo>
                <a:lnTo>
                  <a:pt x="0" y="0"/>
                </a:lnTo>
                <a:close/>
              </a:path>
            </a:pathLst>
          </a:custGeom>
          <a:blipFill xmlns:a="http://schemas.openxmlformats.org/drawingml/2006/main">
            <a:blip xmlns:r="http://schemas.openxmlformats.org/officeDocument/2006/relationships" r:embed="R24a0985ede7b4f0f">
              <a:extLst>
                <a:ext uri="{96DAC541-7B7A-43D3-8B79-37D633B846F1}">
                  <asvg:svgBlip xmlns:asvg="http://schemas.microsoft.com/office/drawing/2016/SVG/main" r:embed="Ra461cfed1eb44329"/>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A2427B3D-F106-4CB2-B7E4-60C2A37FC3E0}"/>
              </a:ext>
            </a:extLst>
          </p:cNvPr>
          <p:cNvSpPr>
            <a:spLocks xmlns:a="http://schemas.openxmlformats.org/drawingml/2006/main" noGrp="1"/>
          </p:cNvSpPr>
          <p:nvPr/>
        </p:nvSpPr>
        <p:spPr>
          <a:xfrm xmlns:a="http://schemas.openxmlformats.org/drawingml/2006/main" rot="0" flipH="0" flipV="0">
            <a:off x="12841199" y="851337"/>
            <a:ext cx="5446801" cy="4408062"/>
          </a:xfrm>
          <a:custGeom xmlns:a="http://schemas.openxmlformats.org/drawingml/2006/main">
            <a:rect l="l" t="t" r="r" b="b"/>
            <a:pathLst>
              <a:path w="5446801" h="4408062">
                <a:moveTo>
                  <a:pt x="0" y="0"/>
                </a:moveTo>
                <a:lnTo>
                  <a:pt x="5446801" y="0"/>
                </a:lnTo>
                <a:lnTo>
                  <a:pt x="5446801" y="4408062"/>
                </a:lnTo>
                <a:lnTo>
                  <a:pt x="0" y="4408062"/>
                </a:lnTo>
                <a:lnTo>
                  <a:pt x="0" y="0"/>
                </a:lnTo>
                <a:close/>
              </a:path>
            </a:pathLst>
          </a:custGeom>
          <a:blipFill xmlns:a="http://schemas.openxmlformats.org/drawingml/2006/main">
            <a:blip xmlns:r="http://schemas.openxmlformats.org/officeDocument/2006/relationships" r:embed="R486f9afbb2e04ced"/>
            <a:stretch>
              <a:fillRect l="0" t="0" r="-97690" b="0"/>
            </a:stretch>
          </a:blipFill>
        </p:spPr>
      </p:sp>
      <p:sp>
        <p:nvSpPr>
          <p:cNvPr id="18" name="Freeform 18">
            <a:extLst xmlns:a="http://schemas.openxmlformats.org/drawingml/2006/main">
              <a:ext uri="{FF2B5EF4-FFF2-40B4-BE49-F238E27FC236}">
                <a16:creationId xmlns:a16="http://schemas.microsoft.com/office/drawing/2014/main" id="{E97C3515-325B-455B-B34B-5E88F46BEA17}"/>
              </a:ext>
            </a:extLst>
          </p:cNvPr>
          <p:cNvSpPr>
            <a:spLocks xmlns:a="http://schemas.openxmlformats.org/drawingml/2006/main" noGrp="1"/>
          </p:cNvSpPr>
          <p:nvPr/>
        </p:nvSpPr>
        <p:spPr>
          <a:xfrm xmlns:a="http://schemas.openxmlformats.org/drawingml/2006/main" rot="0" flipH="0" flipV="0">
            <a:off x="11027526" y="5365904"/>
            <a:ext cx="5275419" cy="4290267"/>
          </a:xfrm>
          <a:custGeom xmlns:a="http://schemas.openxmlformats.org/drawingml/2006/main">
            <a:rect l="l" t="t" r="r" b="b"/>
            <a:pathLst>
              <a:path w="5275419" h="4290267">
                <a:moveTo>
                  <a:pt x="0" y="0"/>
                </a:moveTo>
                <a:lnTo>
                  <a:pt x="5275420" y="0"/>
                </a:lnTo>
                <a:lnTo>
                  <a:pt x="5275420" y="4290267"/>
                </a:lnTo>
                <a:lnTo>
                  <a:pt x="0" y="4290267"/>
                </a:lnTo>
                <a:lnTo>
                  <a:pt x="0" y="0"/>
                </a:lnTo>
                <a:close/>
              </a:path>
            </a:pathLst>
          </a:custGeom>
          <a:blipFill xmlns:a="http://schemas.openxmlformats.org/drawingml/2006/main">
            <a:blip xmlns:r="http://schemas.openxmlformats.org/officeDocument/2006/relationships" r:embed="R486f9afbb2e04ced"/>
            <a:stretch>
              <a:fillRect l="-98658" t="0" r="0" b="0"/>
            </a:stretch>
          </a:blipFill>
        </p:spPr>
      </p:sp>
    </p:spTree>
    <p:extLst>
      <p:ext uri="{BB962C8B-B14F-4D97-AF65-F5344CB8AC3E}">
        <p14:creationId xmlns:p14="http://schemas.microsoft.com/office/powerpoint/2010/main" val="886450180"/>
      </p:ext>
    </p:extLst>
  </p:cSld>
</p:sld>
</file>

<file path=ppt/slides/slide4.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CA6C3C3-373F-4E78-9661-7C33A5FDE992}"/>
              </a:ext>
            </a:extLst>
          </p:cNvPr>
          <p:cNvSpPr>
            <a:spLocks xmlns:a="http://schemas.openxmlformats.org/drawingml/2006/main" noGrp="1"/>
          </p:cNvSpPr>
          <p:nvPr/>
        </p:nvSpPr>
        <p:spPr>
          <a:xfrm xmlns:a="http://schemas.openxmlformats.org/drawingml/2006/main" rot="0" flipH="0" flipV="0">
            <a:off x="16422240" y="6136710"/>
            <a:ext cx="2152294" cy="4320299"/>
          </a:xfrm>
          <a:custGeom xmlns:a="http://schemas.openxmlformats.org/drawingml/2006/main">
            <a:rect l="l" t="t" r="r" b="b"/>
            <a:pathLst>
              <a:path w="2152294" h="4320299">
                <a:moveTo>
                  <a:pt x="0" y="0"/>
                </a:moveTo>
                <a:lnTo>
                  <a:pt x="2152295" y="0"/>
                </a:lnTo>
                <a:lnTo>
                  <a:pt x="2152295" y="4320299"/>
                </a:lnTo>
                <a:lnTo>
                  <a:pt x="0" y="4320299"/>
                </a:lnTo>
                <a:lnTo>
                  <a:pt x="0" y="0"/>
                </a:lnTo>
                <a:close/>
              </a:path>
            </a:pathLst>
          </a:custGeom>
          <a:blipFill xmlns:a="http://schemas.openxmlformats.org/drawingml/2006/main">
            <a:blip xmlns:r="http://schemas.openxmlformats.org/officeDocument/2006/relationships" r:embed="R45bf9306288c4877">
              <a:extLst>
                <a:ext uri="{96DAC541-7B7A-43D3-8B79-37D633B846F1}">
                  <asvg:svgBlip xmlns:asvg="http://schemas.microsoft.com/office/drawing/2016/SVG/main" r:embed="R45cf97a358044ba3"/>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83E084AF-425A-4AC5-8ECC-368C7E9C1696}"/>
              </a:ext>
            </a:extLst>
          </p:cNvPr>
          <p:cNvSpPr>
            <a:spLocks xmlns:a="http://schemas.openxmlformats.org/drawingml/2006/main" noGrp="1"/>
          </p:cNvSpPr>
          <p:nvPr/>
        </p:nvSpPr>
        <p:spPr>
          <a:xfrm xmlns:a="http://schemas.openxmlformats.org/drawingml/2006/main" rot="-5400000" flipH="0" flipV="1">
            <a:off x="695096" y="-1317114"/>
            <a:ext cx="2047276" cy="4109495"/>
          </a:xfrm>
          <a:custGeom xmlns:a="http://schemas.openxmlformats.org/drawingml/2006/main">
            <a:rect l="l" t="t" r="r" b="b"/>
            <a:pathLst>
              <a:path w="2047276" h="4109495">
                <a:moveTo>
                  <a:pt x="0" y="4109494"/>
                </a:moveTo>
                <a:lnTo>
                  <a:pt x="2047275" y="4109494"/>
                </a:lnTo>
                <a:lnTo>
                  <a:pt x="2047275" y="0"/>
                </a:lnTo>
                <a:lnTo>
                  <a:pt x="0" y="0"/>
                </a:lnTo>
                <a:lnTo>
                  <a:pt x="0" y="4109494"/>
                </a:lnTo>
                <a:close/>
              </a:path>
            </a:pathLst>
          </a:custGeom>
          <a:blipFill xmlns:a="http://schemas.openxmlformats.org/drawingml/2006/main">
            <a:blip xmlns:r="http://schemas.openxmlformats.org/officeDocument/2006/relationships" r:embed="R45bf9306288c4877">
              <a:extLst>
                <a:ext uri="{96DAC541-7B7A-43D3-8B79-37D633B846F1}">
                  <asvg:svgBlip xmlns:asvg="http://schemas.microsoft.com/office/drawing/2016/SVG/main" r:embed="R45cf97a358044ba3"/>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5934E97-E470-4557-A143-E9D1E1D80DBB}"/>
              </a:ext>
            </a:extLst>
          </p:cNvPr>
          <p:cNvSpPr>
            <a:spLocks xmlns:a="http://schemas.openxmlformats.org/drawingml/2006/main" noGrp="1"/>
          </p:cNvSpPr>
          <p:nvPr/>
        </p:nvSpPr>
        <p:spPr>
          <a:xfrm xmlns:a="http://schemas.openxmlformats.org/drawingml/2006/main" rot="0" flipH="0" flipV="0">
            <a:off x="5044983" y="118941"/>
            <a:ext cx="6869943" cy="10049118"/>
          </a:xfrm>
          <a:custGeom xmlns:a="http://schemas.openxmlformats.org/drawingml/2006/main">
            <a:rect l="l" t="t" r="r" b="b"/>
            <a:pathLst>
              <a:path w="6869943" h="10049118">
                <a:moveTo>
                  <a:pt x="0" y="0"/>
                </a:moveTo>
                <a:lnTo>
                  <a:pt x="6869943" y="0"/>
                </a:lnTo>
                <a:lnTo>
                  <a:pt x="6869943" y="10049118"/>
                </a:lnTo>
                <a:lnTo>
                  <a:pt x="0" y="10049118"/>
                </a:lnTo>
                <a:lnTo>
                  <a:pt x="0" y="0"/>
                </a:lnTo>
                <a:close/>
              </a:path>
            </a:pathLst>
          </a:custGeom>
          <a:blipFill xmlns:a="http://schemas.openxmlformats.org/drawingml/2006/main">
            <a:blip xmlns:r="http://schemas.openxmlformats.org/officeDocument/2006/relationships" r:embed="R6ce7ec6b02e24e6e">
              <a:alphaModFix amt="34000"/>
              <a:extLst>
                <a:ext uri="{96DAC541-7B7A-43D3-8B79-37D633B846F1}">
                  <asvg:svgBlip xmlns:asvg="http://schemas.microsoft.com/office/drawing/2016/SVG/main" r:embed="R482ca97055944e03"/>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C7698E64-83D8-4A35-8038-2200589305F0}"/>
              </a:ext>
            </a:extLst>
          </p:cNvPr>
          <p:cNvSpPr>
            <a:spLocks xmlns:a="http://schemas.openxmlformats.org/drawingml/2006/main" noGrp="1"/>
          </p:cNvSpPr>
          <p:nvPr/>
        </p:nvSpPr>
        <p:spPr>
          <a:xfrm xmlns:a="http://schemas.openxmlformats.org/drawingml/2006/main" rot="0" flipH="0" flipV="0">
            <a:off x="1718733" y="2180861"/>
            <a:ext cx="14181293" cy="7657898"/>
          </a:xfrm>
          <a:custGeom xmlns:a="http://schemas.openxmlformats.org/drawingml/2006/main">
            <a:rect l="l" t="t" r="r" b="b"/>
            <a:pathLst>
              <a:path w="14181293" h="7657898">
                <a:moveTo>
                  <a:pt x="0" y="0"/>
                </a:moveTo>
                <a:lnTo>
                  <a:pt x="14181293" y="0"/>
                </a:lnTo>
                <a:lnTo>
                  <a:pt x="14181293" y="7657898"/>
                </a:lnTo>
                <a:lnTo>
                  <a:pt x="0" y="7657898"/>
                </a:lnTo>
                <a:lnTo>
                  <a:pt x="0" y="0"/>
                </a:lnTo>
                <a:close/>
              </a:path>
            </a:pathLst>
          </a:custGeom>
          <a:blipFill xmlns:a="http://schemas.openxmlformats.org/drawingml/2006/main">
            <a:blip xmlns:r="http://schemas.openxmlformats.org/officeDocument/2006/relationships" r:embed="R0291754760cd411d"/>
            <a:stretch>
              <a:fillRect l="0" t="0" r="0" b="0"/>
            </a:stretch>
          </a:blipFill>
        </p:spPr>
      </p:sp>
      <p:sp>
        <p:nvSpPr>
          <p:cNvPr id="6" name="TextBox 6">
            <a:extLst xmlns:a="http://schemas.openxmlformats.org/drawingml/2006/main">
              <a:ext uri="{FF2B5EF4-FFF2-40B4-BE49-F238E27FC236}">
                <a16:creationId xmlns:a16="http://schemas.microsoft.com/office/drawing/2014/main" id="{EE620F74-9F38-4452-8B3E-AAB0162B8606}"/>
              </a:ext>
            </a:extLst>
          </p:cNvPr>
          <p:cNvSpPr>
            <a:spLocks xmlns:a="http://schemas.openxmlformats.org/drawingml/2006/main" noGrp="1"/>
          </p:cNvSpPr>
          <p:nvPr/>
        </p:nvSpPr>
        <p:spPr>
          <a:xfrm xmlns:a="http://schemas.openxmlformats.org/drawingml/2006/main" rot="0">
            <a:off x="3650792" y="1235110"/>
            <a:ext cx="10986416" cy="10427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6324"/>
              </a:lnSpc>
              <a:buNone/>
            </a:pPr>
            <a:r>
              <a:rPr sz="6800" b="1">
                <a:solidFill>
                  <a:srgbClr val="000000"/>
                </a:solidFill>
                <a:latin typeface="Cooper Hewitt Bold"/>
                <a:ea typeface="Cooper Hewitt Bold"/>
                <a:cs typeface="Cooper Hewitt Bold"/>
              </a:rPr>
              <a:t>Mac</a:t>
            </a:r>
            <a:r>
              <a:rPr sz="6800" b="1">
                <a:solidFill>
                  <a:srgbClr val="000000"/>
                </a:solidFill>
                <a:latin typeface="Cooper Hewitt Bold"/>
                <a:ea typeface="Cooper Hewitt Bold"/>
                <a:cs typeface="Cooper Hewitt Bold"/>
              </a:rPr>
              <a:t>hine-learning approach</a:t>
            </a:r>
          </a:p>
        </p:txBody>
      </p:sp>
    </p:spTree>
    <p:extLst>
      <p:ext uri="{BB962C8B-B14F-4D97-AF65-F5344CB8AC3E}">
        <p14:creationId xmlns:p14="http://schemas.microsoft.com/office/powerpoint/2010/main" val="860716267"/>
      </p:ext>
    </p:extLst>
  </p:cSld>
</p:sld>
</file>

<file path=ppt/slides/slide5.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12B16A05-76C5-4461-9C9E-876DA56F6D91}"/>
              </a:ext>
            </a:extLst>
          </p:cNvPr>
          <p:cNvSpPr>
            <a:spLocks xmlns:a="http://schemas.openxmlformats.org/drawingml/2006/main" noGrp="1"/>
          </p:cNvSpPr>
          <p:nvPr/>
        </p:nvSpPr>
        <p:spPr>
          <a:xfrm xmlns:a="http://schemas.openxmlformats.org/drawingml/2006/main" rot="0" flipH="0" flipV="0">
            <a:off x="8487575" y="2497691"/>
            <a:ext cx="8771725" cy="4338017"/>
          </a:xfrm>
          <a:custGeom xmlns:a="http://schemas.openxmlformats.org/drawingml/2006/main">
            <a:rect l="l" t="t" r="r" b="b"/>
            <a:pathLst>
              <a:path w="8771725" h="4338017">
                <a:moveTo>
                  <a:pt x="0" y="0"/>
                </a:moveTo>
                <a:lnTo>
                  <a:pt x="8771725" y="0"/>
                </a:lnTo>
                <a:lnTo>
                  <a:pt x="8771725" y="4338016"/>
                </a:lnTo>
                <a:lnTo>
                  <a:pt x="0" y="4338016"/>
                </a:lnTo>
                <a:lnTo>
                  <a:pt x="0" y="0"/>
                </a:lnTo>
                <a:close/>
              </a:path>
            </a:pathLst>
          </a:custGeom>
          <a:blipFill xmlns:a="http://schemas.openxmlformats.org/drawingml/2006/main">
            <a:blip xmlns:r="http://schemas.openxmlformats.org/officeDocument/2006/relationships" r:embed="R990fa5f09cf54e96">
              <a:alphaModFix amt="43999"/>
              <a:extLst>
                <a:ext uri="{96DAC541-7B7A-43D3-8B79-37D633B846F1}">
                  <asvg:svgBlip xmlns:asvg="http://schemas.microsoft.com/office/drawing/2016/SVG/main" r:embed="Rd9afdf995021461b"/>
                </a:ext>
              </a:extLst>
            </a:blip>
            <a:stretch>
              <a:fillRect l="0" t="0" r="0" b="0"/>
            </a:stretch>
          </a:blipFill>
        </p:spPr>
      </p:sp>
      <p:sp>
        <p:nvSpPr>
          <p:cNvPr id="4" name="TextBox 4">
            <a:extLst xmlns:a="http://schemas.openxmlformats.org/drawingml/2006/main">
              <a:ext uri="{FF2B5EF4-FFF2-40B4-BE49-F238E27FC236}">
                <a16:creationId xmlns:a16="http://schemas.microsoft.com/office/drawing/2014/main" id="{71A4D9DB-BE7B-4C81-99CF-5F4BAA6DDF85}"/>
              </a:ext>
            </a:extLst>
          </p:cNvPr>
          <p:cNvSpPr>
            <a:spLocks xmlns:a="http://schemas.openxmlformats.org/drawingml/2006/main" noGrp="1"/>
          </p:cNvSpPr>
          <p:nvPr/>
        </p:nvSpPr>
        <p:spPr>
          <a:xfrm xmlns:a="http://schemas.openxmlformats.org/drawingml/2006/main" rot="0">
            <a:off x="5130782" y="1019175"/>
            <a:ext cx="8691283" cy="1606296"/>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ts val="6324"/>
              </a:lnSpc>
              <a:buNone/>
            </a:pPr>
            <a:r>
              <a:rPr sz="3000" b="1">
                <a:solidFill>
                  <a:srgbClr val="000000"/>
                </a:solidFill>
                <a:latin typeface="Cooper Hewitt Bold"/>
                <a:ea typeface="Cooper Hewitt Bold"/>
                <a:cs typeface="Cooper Hewitt Bold"/>
              </a:rPr>
              <a:t>Model Comparison on the Untouched Test Set</a:t>
            </a:r>
          </a:p>
        </p:txBody>
      </p:sp>
      <p:sp>
        <p:nvSpPr>
          <p:cNvPr id="5" name="TextBox 5">
            <a:extLst xmlns:a="http://schemas.openxmlformats.org/drawingml/2006/main">
              <a:ext uri="{FF2B5EF4-FFF2-40B4-BE49-F238E27FC236}">
                <a16:creationId xmlns:a16="http://schemas.microsoft.com/office/drawing/2014/main" id="{D76F4CF4-9853-4098-A40B-5D15F66E0DC7}"/>
              </a:ext>
            </a:extLst>
          </p:cNvPr>
          <p:cNvSpPr>
            <a:spLocks xmlns:a="http://schemas.openxmlformats.org/drawingml/2006/main" noGrp="1"/>
          </p:cNvSpPr>
          <p:nvPr/>
        </p:nvSpPr>
        <p:spPr>
          <a:xfrm xmlns:a="http://schemas.openxmlformats.org/drawingml/2006/main" rot="0">
            <a:off x="1028700" y="2788722"/>
            <a:ext cx="7085133" cy="176339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604523" lvl="1" indent="-302261" algn="l">
              <a:lnSpc>
                <a:spcPts val="3500"/>
              </a:lnSpc>
              <a:buFont typeface="Arial"/>
              <a:buChar char="•"/>
            </a:pPr>
            <a:r>
              <a:rPr sz="2800">
                <a:solidFill>
                  <a:srgbClr val="000000"/>
                </a:solidFill>
                <a:latin typeface="Georgia Pro"/>
                <a:ea typeface="Georgia Pro"/>
                <a:cs typeface="Georgia Pro"/>
              </a:rPr>
              <a:t>VALIDATION-SELECTED MODEL — Logistic Regression</a:t>
            </a:r>
          </a:p>
        </p:txBody>
      </p:sp>
      <p:sp>
        <p:nvSpPr>
          <p:cNvPr id="6" name="TextBox 6">
            <a:extLst xmlns:a="http://schemas.openxmlformats.org/drawingml/2006/main">
              <a:ext uri="{FF2B5EF4-FFF2-40B4-BE49-F238E27FC236}">
                <a16:creationId xmlns:a16="http://schemas.microsoft.com/office/drawing/2014/main" id="{BEBD1B94-8AE0-4D29-A986-3C76176A0B4D}"/>
              </a:ext>
            </a:extLst>
          </p:cNvPr>
          <p:cNvSpPr>
            <a:spLocks xmlns:a="http://schemas.openxmlformats.org/drawingml/2006/main" noGrp="1"/>
          </p:cNvSpPr>
          <p:nvPr/>
        </p:nvSpPr>
        <p:spPr>
          <a:xfrm xmlns:a="http://schemas.openxmlformats.org/drawingml/2006/main" rot="0">
            <a:off x="1028700" y="4874731"/>
            <a:ext cx="7085133" cy="176339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604523" lvl="1" indent="-302261" algn="l">
              <a:lnSpc>
                <a:spcPts val="3500"/>
              </a:lnSpc>
              <a:buFont typeface="Arial"/>
              <a:buChar char="•"/>
            </a:pPr>
            <a:r>
              <a:rPr sz="2800">
                <a:solidFill>
                  <a:srgbClr val="000000"/>
                </a:solidFill>
                <a:latin typeface="Georgia Pro"/>
                <a:ea typeface="Georgia Pro"/>
                <a:cs typeface="Georgia Pro"/>
              </a:rPr>
              <a:t>TEST RANKING — CatBoost later had the highest test PR-AUC, but it did not replace the declared winner.</a:t>
            </a:r>
          </a:p>
        </p:txBody>
      </p:sp>
      <p:sp>
        <p:nvSpPr>
          <p:cNvPr id="7" name="TextBox 7">
            <a:extLst xmlns:a="http://schemas.openxmlformats.org/drawingml/2006/main">
              <a:ext uri="{FF2B5EF4-FFF2-40B4-BE49-F238E27FC236}">
                <a16:creationId xmlns:a16="http://schemas.microsoft.com/office/drawing/2014/main" id="{29BBE5C7-62AC-4577-A293-3DF121D50741}"/>
              </a:ext>
            </a:extLst>
          </p:cNvPr>
          <p:cNvSpPr>
            <a:spLocks xmlns:a="http://schemas.openxmlformats.org/drawingml/2006/main" noGrp="1"/>
          </p:cNvSpPr>
          <p:nvPr/>
        </p:nvSpPr>
        <p:spPr>
          <a:xfrm xmlns:a="http://schemas.openxmlformats.org/drawingml/2006/main" rot="0">
            <a:off x="1028700" y="6960740"/>
            <a:ext cx="7085133" cy="176339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604523" lvl="1" indent="-302261" algn="l">
              <a:lnSpc>
                <a:spcPts val="3500"/>
              </a:lnSpc>
              <a:buFont typeface="Arial"/>
              <a:buChar char="•"/>
            </a:pPr>
            <a:r>
              <a:rPr sz="2800">
                <a:solidFill>
                  <a:srgbClr val="000000"/>
                </a:solidFill>
                <a:latin typeface="Georgia Pro"/>
                <a:ea typeface="Georgia Pro"/>
                <a:cs typeface="Georgia Pro"/>
              </a:rPr>
              <a:t>Thresholds selected using validation data; the test set did not determine the winner.</a:t>
            </a:r>
          </a:p>
        </p:txBody>
      </p:sp>
      <p:sp>
        <p:nvSpPr>
          <p:cNvPr id="8" name="Freeform 8">
            <a:extLst xmlns:a="http://schemas.openxmlformats.org/drawingml/2006/main">
              <a:ext uri="{FF2B5EF4-FFF2-40B4-BE49-F238E27FC236}">
                <a16:creationId xmlns:a16="http://schemas.microsoft.com/office/drawing/2014/main" id="{A27C5C74-75AB-4445-9087-2ACC7AB3234C}"/>
              </a:ext>
            </a:extLst>
          </p:cNvPr>
          <p:cNvSpPr>
            <a:spLocks xmlns:a="http://schemas.openxmlformats.org/drawingml/2006/main" noGrp="1"/>
          </p:cNvSpPr>
          <p:nvPr/>
        </p:nvSpPr>
        <p:spPr>
          <a:xfrm xmlns:a="http://schemas.openxmlformats.org/drawingml/2006/main" rot="0" flipH="0" flipV="0">
            <a:off x="422791" y="627639"/>
            <a:ext cx="1807768" cy="2254587"/>
          </a:xfrm>
          <a:custGeom xmlns:a="http://schemas.openxmlformats.org/drawingml/2006/main">
            <a:rect l="l" t="t" r="r" b="b"/>
            <a:pathLst>
              <a:path w="1807768" h="2254587">
                <a:moveTo>
                  <a:pt x="0" y="0"/>
                </a:moveTo>
                <a:lnTo>
                  <a:pt x="1807768" y="0"/>
                </a:lnTo>
                <a:lnTo>
                  <a:pt x="1807768" y="2254587"/>
                </a:lnTo>
                <a:lnTo>
                  <a:pt x="0" y="2254587"/>
                </a:lnTo>
                <a:lnTo>
                  <a:pt x="0" y="0"/>
                </a:lnTo>
                <a:close/>
              </a:path>
            </a:pathLst>
          </a:custGeom>
          <a:blipFill xmlns:a="http://schemas.openxmlformats.org/drawingml/2006/main">
            <a:blip xmlns:r="http://schemas.openxmlformats.org/officeDocument/2006/relationships" r:embed="R80990453a68e4684">
              <a:extLst>
                <a:ext uri="{96DAC541-7B7A-43D3-8B79-37D633B846F1}">
                  <asvg:svgBlip xmlns:asvg="http://schemas.microsoft.com/office/drawing/2016/SVG/main" r:embed="Re73003c9094b4fa9"/>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05E6BA08-2277-4085-82C9-7B5F61ECBDE4}"/>
              </a:ext>
            </a:extLst>
          </p:cNvPr>
          <p:cNvSpPr>
            <a:spLocks xmlns:a="http://schemas.openxmlformats.org/drawingml/2006/main" noGrp="1"/>
          </p:cNvSpPr>
          <p:nvPr/>
        </p:nvSpPr>
        <p:spPr>
          <a:xfrm xmlns:a="http://schemas.openxmlformats.org/drawingml/2006/main" rot="-10800000" flipH="0" flipV="0">
            <a:off x="16452906" y="8007500"/>
            <a:ext cx="1612788" cy="2011413"/>
          </a:xfrm>
          <a:custGeom xmlns:a="http://schemas.openxmlformats.org/drawingml/2006/main">
            <a:rect l="l" t="t" r="r" b="b"/>
            <a:pathLst>
              <a:path w="1612788" h="2011413">
                <a:moveTo>
                  <a:pt x="0" y="0"/>
                </a:moveTo>
                <a:lnTo>
                  <a:pt x="1612788" y="0"/>
                </a:lnTo>
                <a:lnTo>
                  <a:pt x="1612788" y="2011413"/>
                </a:lnTo>
                <a:lnTo>
                  <a:pt x="0" y="2011413"/>
                </a:lnTo>
                <a:lnTo>
                  <a:pt x="0" y="0"/>
                </a:lnTo>
                <a:close/>
              </a:path>
            </a:pathLst>
          </a:custGeom>
          <a:blipFill xmlns:a="http://schemas.openxmlformats.org/drawingml/2006/main">
            <a:blip xmlns:r="http://schemas.openxmlformats.org/officeDocument/2006/relationships" r:embed="R80990453a68e4684">
              <a:extLst>
                <a:ext uri="{96DAC541-7B7A-43D3-8B79-37D633B846F1}">
                  <asvg:svgBlip xmlns:asvg="http://schemas.microsoft.com/office/drawing/2016/SVG/main" r:embed="Re73003c9094b4fa9"/>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CFF35EE5-5318-4B17-A237-11960E15697F}"/>
              </a:ext>
            </a:extLst>
          </p:cNvPr>
          <p:cNvSpPr>
            <a:spLocks xmlns:a="http://schemas.openxmlformats.org/drawingml/2006/main" noGrp="1"/>
          </p:cNvSpPr>
          <p:nvPr/>
        </p:nvSpPr>
        <p:spPr>
          <a:xfrm xmlns:a="http://schemas.openxmlformats.org/drawingml/2006/main" rot="0" flipH="0" flipV="0">
            <a:off x="-370865" y="9013206"/>
            <a:ext cx="1587311" cy="1587311"/>
          </a:xfrm>
          <a:custGeom xmlns:a="http://schemas.openxmlformats.org/drawingml/2006/main">
            <a:rect l="l" t="t" r="r" b="b"/>
            <a:pathLst>
              <a:path w="1587311" h="1587311">
                <a:moveTo>
                  <a:pt x="0" y="0"/>
                </a:moveTo>
                <a:lnTo>
                  <a:pt x="1587312" y="0"/>
                </a:lnTo>
                <a:lnTo>
                  <a:pt x="1587312" y="1587312"/>
                </a:lnTo>
                <a:lnTo>
                  <a:pt x="0" y="1587312"/>
                </a:lnTo>
                <a:lnTo>
                  <a:pt x="0" y="0"/>
                </a:lnTo>
                <a:close/>
              </a:path>
            </a:pathLst>
          </a:custGeom>
          <a:blipFill xmlns:a="http://schemas.openxmlformats.org/drawingml/2006/main">
            <a:blip xmlns:r="http://schemas.openxmlformats.org/officeDocument/2006/relationships" r:embed="R0884ef8036e64439">
              <a:extLst>
                <a:ext uri="{96DAC541-7B7A-43D3-8B79-37D633B846F1}">
                  <asvg:svgBlip xmlns:asvg="http://schemas.microsoft.com/office/drawing/2016/SVG/main" r:embed="R781e1bdb3b5a4b93"/>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1F54F218-94F3-4765-9F79-C1C6BB38BCE2}"/>
              </a:ext>
            </a:extLst>
          </p:cNvPr>
          <p:cNvSpPr>
            <a:spLocks xmlns:a="http://schemas.openxmlformats.org/drawingml/2006/main" noGrp="1"/>
          </p:cNvSpPr>
          <p:nvPr/>
        </p:nvSpPr>
        <p:spPr>
          <a:xfrm xmlns:a="http://schemas.openxmlformats.org/drawingml/2006/main" rot="0" flipH="0" flipV="0">
            <a:off x="16938890" y="-317971"/>
            <a:ext cx="1587311" cy="1587311"/>
          </a:xfrm>
          <a:custGeom xmlns:a="http://schemas.openxmlformats.org/drawingml/2006/main">
            <a:rect l="l" t="t" r="r" b="b"/>
            <a:pathLst>
              <a:path w="1587311" h="1587311">
                <a:moveTo>
                  <a:pt x="0" y="0"/>
                </a:moveTo>
                <a:lnTo>
                  <a:pt x="1587311" y="0"/>
                </a:lnTo>
                <a:lnTo>
                  <a:pt x="1587311" y="1587311"/>
                </a:lnTo>
                <a:lnTo>
                  <a:pt x="0" y="1587311"/>
                </a:lnTo>
                <a:lnTo>
                  <a:pt x="0" y="0"/>
                </a:lnTo>
                <a:close/>
              </a:path>
            </a:pathLst>
          </a:custGeom>
          <a:blipFill xmlns:a="http://schemas.openxmlformats.org/drawingml/2006/main">
            <a:blip xmlns:r="http://schemas.openxmlformats.org/officeDocument/2006/relationships" r:embed="R0884ef8036e64439">
              <a:extLst>
                <a:ext uri="{96DAC541-7B7A-43D3-8B79-37D633B846F1}">
                  <asvg:svgBlip xmlns:asvg="http://schemas.microsoft.com/office/drawing/2016/SVG/main" r:embed="R781e1bdb3b5a4b93"/>
                </a:ext>
              </a:extLst>
            </a:blip>
            <a:stretch>
              <a:fillRect l="0" t="0" r="0" b="0"/>
            </a:stretch>
          </a:blipFill>
        </p:spPr>
      </p:sp>
      <p:graphicFrame>
        <p:nvGraphicFramePr>
          <p:cNvPr id="22" name=""/>
          <p:cNvGraphicFramePr/>
          <p:nvPr/>
        </p:nvGraphicFramePr>
        <p:xfrm>
          <a:off xmlns:a="http://schemas.openxmlformats.org/drawingml/2006/main" x="8858250" y="3333750"/>
          <a:ext xmlns:a="http://schemas.openxmlformats.org/drawingml/2006/main" cx="7762875" cy="4476750"/>
        </p:xfrm>
        <a:graphic xmlns:a="http://schemas.openxmlformats.org/drawingml/2006/main">
          <a:graphicData uri="http://schemas.openxmlformats.org/drawingml/2006/table">
            <a:tbl>
              <a:tblPr/>
              <a:tblGrid>
                <a:gridCol w="2476500"/>
                <a:gridCol w="1619250"/>
                <a:gridCol w="1190625"/>
                <a:gridCol w="1095375"/>
                <a:gridCol w="1381125"/>
              </a:tblGrid>
              <a:tr h="685800">
                <a:tc>
                  <a:txBody>
                    <a:bodyPr wrap="square">
                      <a:normAutofit/>
                    </a:bodyPr>
                    <a:lstStyle/>
                    <a:p>
                      <a:pPr algn="l"/>
                      <a:r>
                        <a:rPr sz="1575" b="1">
                          <a:solidFill>
                            <a:srgbClr val="FFFFFF"/>
                          </a:solidFill>
                        </a:rPr>
                        <a:t>Model</a:t>
                      </a:r>
                    </a:p>
                  </a:txBody>
                  <a:tcPr marL="76200" marR="76200" marT="57150" marB="57150" anchor="ctr">
                    <a:solidFill>
                      <a:srgbClr val="C8101B"/>
                    </a:solidFill>
                  </a:tcPr>
                </a:tc>
                <a:tc>
                  <a:txBody>
                    <a:bodyPr wrap="square">
                      <a:normAutofit/>
                    </a:bodyPr>
                    <a:lstStyle/>
                    <a:p>
                      <a:pPr algn="l"/>
                      <a:r>
                        <a:rPr sz="1575" b="1">
                          <a:solidFill>
                            <a:srgbClr val="FFFFFF"/>
                          </a:solidFill>
                        </a:rPr>
                        <a:t>Role</a:t>
                      </a:r>
                    </a:p>
                  </a:txBody>
                  <a:tcPr marL="76200" marR="76200" marT="57150" marB="57150" anchor="ctr">
                    <a:solidFill>
                      <a:srgbClr val="C8101B"/>
                    </a:solidFill>
                  </a:tcPr>
                </a:tc>
                <a:tc>
                  <a:txBody>
                    <a:bodyPr wrap="square">
                      <a:normAutofit/>
                    </a:bodyPr>
                    <a:lstStyle/>
                    <a:p>
                      <a:pPr algn="ctr"/>
                      <a:r>
                        <a:rPr sz="1575" b="1">
                          <a:solidFill>
                            <a:srgbClr val="FFFFFF"/>
                          </a:solidFill>
                        </a:rPr>
                        <a:t>PR-AUC</a:t>
                      </a:r>
                    </a:p>
                  </a:txBody>
                  <a:tcPr marL="76200" marR="76200" marT="57150" marB="57150" anchor="ctr">
                    <a:solidFill>
                      <a:srgbClr val="C8101B"/>
                    </a:solidFill>
                  </a:tcPr>
                </a:tc>
                <a:tc>
                  <a:txBody>
                    <a:bodyPr wrap="square">
                      <a:normAutofit/>
                    </a:bodyPr>
                    <a:lstStyle/>
                    <a:p>
                      <a:pPr algn="ctr"/>
                      <a:r>
                        <a:rPr sz="1575" b="1">
                          <a:solidFill>
                            <a:srgbClr val="FFFFFF"/>
                          </a:solidFill>
                        </a:rPr>
                        <a:t>Recall</a:t>
                      </a:r>
                    </a:p>
                  </a:txBody>
                  <a:tcPr marL="76200" marR="76200" marT="57150" marB="57150" anchor="ctr">
                    <a:solidFill>
                      <a:srgbClr val="C8101B"/>
                    </a:solidFill>
                  </a:tcPr>
                </a:tc>
                <a:tc>
                  <a:txBody>
                    <a:bodyPr wrap="square">
                      <a:normAutofit/>
                    </a:bodyPr>
                    <a:lstStyle/>
                    <a:p>
                      <a:pPr algn="ctr"/>
                      <a:r>
                        <a:rPr sz="1575" b="1">
                          <a:solidFill>
                            <a:srgbClr val="FFFFFF"/>
                          </a:solidFill>
                        </a:rPr>
                        <a:t>Positive F1</a:t>
                      </a:r>
                    </a:p>
                  </a:txBody>
                  <a:tcPr marL="76200" marR="76200" marT="57150" marB="57150" anchor="ctr">
                    <a:solidFill>
                      <a:srgbClr val="C8101B"/>
                    </a:solidFill>
                  </a:tcPr>
                </a:tc>
              </a:tr>
              <a:tr h="1047750">
                <a:tc>
                  <a:txBody>
                    <a:bodyPr wrap="square">
                      <a:normAutofit/>
                    </a:bodyPr>
                    <a:lstStyle/>
                    <a:p>
                      <a:pPr algn="l"/>
                      <a:r>
                        <a:rPr sz="1500" b="1">
                          <a:solidFill>
                            <a:srgbClr val="8B1217"/>
                          </a:solidFill>
                        </a:rPr>
                        <a:t>Logistic Regression</a:t>
                      </a:r>
                    </a:p>
                    <a:p>
                      <a:pPr algn="l"/>
                      <a:r>
                        <a:rPr sz="1500" b="1">
                          <a:solidFill>
                            <a:srgbClr val="8B1217"/>
                          </a:solidFill>
                        </a:rPr>
                        <a:t>Validation-selected model</a:t>
                      </a:r>
                    </a:p>
                  </a:txBody>
                  <a:tcPr marL="76200" marR="76200" marT="57150" marB="57150" anchor="ctr">
                    <a:solidFill>
                      <a:srgbClr val="FFF4EF"/>
                    </a:solidFill>
                  </a:tcPr>
                </a:tc>
                <a:tc>
                  <a:txBody>
                    <a:bodyPr wrap="square">
                      <a:normAutofit/>
                    </a:bodyPr>
                    <a:lstStyle/>
                    <a:p>
                      <a:pPr algn="l"/>
                      <a:r>
                        <a:rPr sz="1500" b="1">
                          <a:solidFill>
                            <a:srgbClr val="8B1217"/>
                          </a:solidFill>
                        </a:rPr>
                        <a:t>Baseline</a:t>
                      </a:r>
                    </a:p>
                  </a:txBody>
                  <a:tcPr marL="76200" marR="76200" marT="57150" marB="57150" anchor="ctr">
                    <a:solidFill>
                      <a:srgbClr val="FFF4EF"/>
                    </a:solidFill>
                  </a:tcPr>
                </a:tc>
                <a:tc>
                  <a:txBody>
                    <a:bodyPr wrap="square">
                      <a:normAutofit/>
                    </a:bodyPr>
                    <a:lstStyle/>
                    <a:p>
                      <a:pPr algn="ctr"/>
                      <a:r>
                        <a:rPr sz="1500" b="1">
                          <a:solidFill>
                            <a:srgbClr val="8B1217"/>
                          </a:solidFill>
                        </a:rPr>
                        <a:t>0.069</a:t>
                      </a:r>
                    </a:p>
                  </a:txBody>
                  <a:tcPr marL="76200" marR="76200" marT="57150" marB="57150" anchor="ctr">
                    <a:solidFill>
                      <a:srgbClr val="FFF4EF"/>
                    </a:solidFill>
                  </a:tcPr>
                </a:tc>
                <a:tc>
                  <a:txBody>
                    <a:bodyPr wrap="square">
                      <a:normAutofit/>
                    </a:bodyPr>
                    <a:lstStyle/>
                    <a:p>
                      <a:pPr algn="ctr"/>
                      <a:r>
                        <a:rPr sz="1500" b="1">
                          <a:solidFill>
                            <a:srgbClr val="8B1217"/>
                          </a:solidFill>
                        </a:rPr>
                        <a:t>0.297</a:t>
                      </a:r>
                    </a:p>
                  </a:txBody>
                  <a:tcPr marL="76200" marR="76200" marT="57150" marB="57150" anchor="ctr">
                    <a:solidFill>
                      <a:srgbClr val="FFF4EF"/>
                    </a:solidFill>
                  </a:tcPr>
                </a:tc>
                <a:tc>
                  <a:txBody>
                    <a:bodyPr wrap="square">
                      <a:normAutofit/>
                    </a:bodyPr>
                    <a:lstStyle/>
                    <a:p>
                      <a:pPr algn="ctr"/>
                      <a:r>
                        <a:rPr sz="1500" b="1">
                          <a:solidFill>
                            <a:srgbClr val="8B1217"/>
                          </a:solidFill>
                        </a:rPr>
                        <a:t>0.115</a:t>
                      </a:r>
                    </a:p>
                  </a:txBody>
                  <a:tcPr marL="76200" marR="76200" marT="57150" marB="57150" anchor="ctr">
                    <a:solidFill>
                      <a:srgbClr val="FFF4EF"/>
                    </a:solidFill>
                  </a:tcPr>
                </a:tc>
              </a:tr>
              <a:tr h="876300">
                <a:tc>
                  <a:txBody>
                    <a:bodyPr wrap="square">
                      <a:normAutofit/>
                    </a:bodyPr>
                    <a:lstStyle/>
                    <a:p>
                      <a:pPr algn="l"/>
                      <a:r>
                        <a:rPr sz="1500">
                          <a:solidFill>
                            <a:srgbClr val="181818"/>
                          </a:solidFill>
                        </a:rPr>
                        <a:t>Random Forest</a:t>
                      </a:r>
                    </a:p>
                  </a:txBody>
                  <a:tcPr marL="76200" marR="76200" marT="57150" marB="57150" anchor="ctr">
                    <a:solidFill>
                      <a:srgbClr val="FFFDFC"/>
                    </a:solidFill>
                  </a:tcPr>
                </a:tc>
                <a:tc>
                  <a:txBody>
                    <a:bodyPr wrap="square">
                      <a:normAutofit/>
                    </a:bodyPr>
                    <a:lstStyle/>
                    <a:p>
                      <a:pPr algn="l"/>
                      <a:r>
                        <a:rPr sz="1500">
                          <a:solidFill>
                            <a:srgbClr val="181818"/>
                          </a:solidFill>
                        </a:rPr>
                        <a:t>Bagging</a:t>
                      </a:r>
                    </a:p>
                  </a:txBody>
                  <a:tcPr marL="76200" marR="76200" marT="57150" marB="57150" anchor="ctr">
                    <a:solidFill>
                      <a:srgbClr val="FFFDFC"/>
                    </a:solidFill>
                  </a:tcPr>
                </a:tc>
                <a:tc>
                  <a:txBody>
                    <a:bodyPr wrap="square">
                      <a:normAutofit/>
                    </a:bodyPr>
                    <a:lstStyle/>
                    <a:p>
                      <a:pPr algn="ctr"/>
                      <a:r>
                        <a:rPr sz="1500">
                          <a:solidFill>
                            <a:srgbClr val="181818"/>
                          </a:solidFill>
                        </a:rPr>
                        <a:t>0.080</a:t>
                      </a:r>
                    </a:p>
                  </a:txBody>
                  <a:tcPr marL="76200" marR="76200" marT="57150" marB="57150" anchor="ctr">
                    <a:solidFill>
                      <a:srgbClr val="FFFDFC"/>
                    </a:solidFill>
                  </a:tcPr>
                </a:tc>
                <a:tc>
                  <a:txBody>
                    <a:bodyPr wrap="square">
                      <a:normAutofit/>
                    </a:bodyPr>
                    <a:lstStyle/>
                    <a:p>
                      <a:pPr algn="ctr"/>
                      <a:r>
                        <a:rPr sz="1500">
                          <a:solidFill>
                            <a:srgbClr val="181818"/>
                          </a:solidFill>
                        </a:rPr>
                        <a:t>0.291</a:t>
                      </a:r>
                    </a:p>
                  </a:txBody>
                  <a:tcPr marL="76200" marR="76200" marT="57150" marB="57150" anchor="ctr">
                    <a:solidFill>
                      <a:srgbClr val="FFFDFC"/>
                    </a:solidFill>
                  </a:tcPr>
                </a:tc>
                <a:tc>
                  <a:txBody>
                    <a:bodyPr wrap="square">
                      <a:normAutofit/>
                    </a:bodyPr>
                    <a:lstStyle/>
                    <a:p>
                      <a:pPr algn="ctr"/>
                      <a:r>
                        <a:rPr sz="1500">
                          <a:solidFill>
                            <a:srgbClr val="181818"/>
                          </a:solidFill>
                        </a:rPr>
                        <a:t>0.138</a:t>
                      </a:r>
                    </a:p>
                  </a:txBody>
                  <a:tcPr marL="76200" marR="76200" marT="57150" marB="57150" anchor="ctr">
                    <a:solidFill>
                      <a:srgbClr val="FFFDFC"/>
                    </a:solidFill>
                  </a:tcPr>
                </a:tc>
              </a:tr>
              <a:tr h="876300">
                <a:tc>
                  <a:txBody>
                    <a:bodyPr wrap="square">
                      <a:normAutofit/>
                    </a:bodyPr>
                    <a:lstStyle/>
                    <a:p>
                      <a:pPr algn="l"/>
                      <a:r>
                        <a:rPr sz="1500">
                          <a:solidFill>
                            <a:srgbClr val="181818"/>
                          </a:solidFill>
                        </a:rPr>
                        <a:t>CatBoost</a:t>
                      </a:r>
                    </a:p>
                  </a:txBody>
                  <a:tcPr marL="76200" marR="76200" marT="57150" marB="57150" anchor="ctr">
                    <a:solidFill>
                      <a:srgbClr val="FFFDFC"/>
                    </a:solidFill>
                  </a:tcPr>
                </a:tc>
                <a:tc>
                  <a:txBody>
                    <a:bodyPr wrap="square">
                      <a:normAutofit/>
                    </a:bodyPr>
                    <a:lstStyle/>
                    <a:p>
                      <a:pPr algn="l"/>
                      <a:r>
                        <a:rPr sz="1500">
                          <a:solidFill>
                            <a:srgbClr val="181818"/>
                          </a:solidFill>
                        </a:rPr>
                        <a:t>Boosting</a:t>
                      </a:r>
                    </a:p>
                  </a:txBody>
                  <a:tcPr marL="76200" marR="76200" marT="57150" marB="57150" anchor="ctr">
                    <a:solidFill>
                      <a:srgbClr val="FFFDFC"/>
                    </a:solidFill>
                  </a:tcPr>
                </a:tc>
                <a:tc>
                  <a:txBody>
                    <a:bodyPr wrap="square">
                      <a:normAutofit/>
                    </a:bodyPr>
                    <a:lstStyle/>
                    <a:p>
                      <a:pPr algn="ctr"/>
                      <a:r>
                        <a:rPr sz="1500">
                          <a:solidFill>
                            <a:srgbClr val="181818"/>
                          </a:solidFill>
                        </a:rPr>
                        <a:t>0.094</a:t>
                      </a:r>
                    </a:p>
                  </a:txBody>
                  <a:tcPr marL="76200" marR="76200" marT="57150" marB="57150" anchor="ctr">
                    <a:solidFill>
                      <a:srgbClr val="FFFDFC"/>
                    </a:solidFill>
                  </a:tcPr>
                </a:tc>
                <a:tc>
                  <a:txBody>
                    <a:bodyPr wrap="square">
                      <a:normAutofit/>
                    </a:bodyPr>
                    <a:lstStyle/>
                    <a:p>
                      <a:pPr algn="ctr"/>
                      <a:r>
                        <a:rPr sz="1500">
                          <a:solidFill>
                            <a:srgbClr val="181818"/>
                          </a:solidFill>
                        </a:rPr>
                        <a:t>0.304</a:t>
                      </a:r>
                    </a:p>
                  </a:txBody>
                  <a:tcPr marL="76200" marR="76200" marT="57150" marB="57150" anchor="ctr">
                    <a:solidFill>
                      <a:srgbClr val="FFFDFC"/>
                    </a:solidFill>
                  </a:tcPr>
                </a:tc>
                <a:tc>
                  <a:txBody>
                    <a:bodyPr wrap="square">
                      <a:normAutofit/>
                    </a:bodyPr>
                    <a:lstStyle/>
                    <a:p>
                      <a:pPr algn="ctr"/>
                      <a:r>
                        <a:rPr sz="1500">
                          <a:solidFill>
                            <a:srgbClr val="181818"/>
                          </a:solidFill>
                        </a:rPr>
                        <a:t>0.122</a:t>
                      </a:r>
                    </a:p>
                  </a:txBody>
                  <a:tcPr marL="76200" marR="76200" marT="57150" marB="57150" anchor="ctr">
                    <a:solidFill>
                      <a:srgbClr val="FFFDFC"/>
                    </a:solidFill>
                  </a:tcPr>
                </a:tc>
              </a:tr>
              <a:tr h="876300">
                <a:tc>
                  <a:txBody>
                    <a:bodyPr wrap="square">
                      <a:normAutofit/>
                    </a:bodyPr>
                    <a:lstStyle/>
                    <a:p>
                      <a:pPr algn="l"/>
                      <a:r>
                        <a:rPr sz="1500">
                          <a:solidFill>
                            <a:srgbClr val="181818"/>
                          </a:solidFill>
                        </a:rPr>
                        <a:t>Soft Voting</a:t>
                      </a:r>
                    </a:p>
                  </a:txBody>
                  <a:tcPr marL="76200" marR="76200" marT="57150" marB="57150" anchor="ctr">
                    <a:solidFill>
                      <a:srgbClr val="FFFDFC"/>
                    </a:solidFill>
                  </a:tcPr>
                </a:tc>
                <a:tc>
                  <a:txBody>
                    <a:bodyPr wrap="square">
                      <a:normAutofit/>
                    </a:bodyPr>
                    <a:lstStyle/>
                    <a:p>
                      <a:pPr algn="l"/>
                      <a:r>
                        <a:rPr sz="1500">
                          <a:solidFill>
                            <a:srgbClr val="181818"/>
                          </a:solidFill>
                        </a:rPr>
                        <a:t>Heterogeneous</a:t>
                      </a:r>
                    </a:p>
                  </a:txBody>
                  <a:tcPr marL="76200" marR="76200" marT="57150" marB="57150" anchor="ctr">
                    <a:solidFill>
                      <a:srgbClr val="FFFDFC"/>
                    </a:solidFill>
                  </a:tcPr>
                </a:tc>
                <a:tc>
                  <a:txBody>
                    <a:bodyPr wrap="square">
                      <a:normAutofit/>
                    </a:bodyPr>
                    <a:lstStyle/>
                    <a:p>
                      <a:pPr algn="ctr"/>
                      <a:r>
                        <a:rPr sz="1500">
                          <a:solidFill>
                            <a:srgbClr val="181818"/>
                          </a:solidFill>
                        </a:rPr>
                        <a:t>0.081</a:t>
                      </a:r>
                    </a:p>
                  </a:txBody>
                  <a:tcPr marL="76200" marR="76200" marT="57150" marB="57150" anchor="ctr">
                    <a:solidFill>
                      <a:srgbClr val="FFFDFC"/>
                    </a:solidFill>
                  </a:tcPr>
                </a:tc>
                <a:tc>
                  <a:txBody>
                    <a:bodyPr wrap="square">
                      <a:normAutofit/>
                    </a:bodyPr>
                    <a:lstStyle/>
                    <a:p>
                      <a:pPr algn="ctr"/>
                      <a:r>
                        <a:rPr sz="1500">
                          <a:solidFill>
                            <a:srgbClr val="181818"/>
                          </a:solidFill>
                        </a:rPr>
                        <a:t>0.323</a:t>
                      </a:r>
                    </a:p>
                  </a:txBody>
                  <a:tcPr marL="76200" marR="76200" marT="57150" marB="57150" anchor="ctr">
                    <a:solidFill>
                      <a:srgbClr val="FFFDFC"/>
                    </a:solidFill>
                  </a:tcPr>
                </a:tc>
                <a:tc>
                  <a:txBody>
                    <a:bodyPr wrap="square">
                      <a:normAutofit/>
                    </a:bodyPr>
                    <a:lstStyle/>
                    <a:p>
                      <a:pPr algn="ctr"/>
                      <a:r>
                        <a:rPr sz="1500">
                          <a:solidFill>
                            <a:srgbClr val="181818"/>
                          </a:solidFill>
                        </a:rPr>
                        <a:t>0.126</a:t>
                      </a:r>
                    </a:p>
                  </a:txBody>
                  <a:tcPr marL="76200" marR="76200" marT="57150" marB="57150" anchor="ctr">
                    <a:solidFill>
                      <a:srgbClr val="FFFDFC"/>
                    </a:solidFill>
                  </a:tcPr>
                </a:tc>
              </a:tr>
            </a:tbl>
          </a:graphicData>
        </a:graphic>
      </p:graphicFrame>
    </p:spTree>
    <p:extLst>
      <p:ext uri="{BB962C8B-B14F-4D97-AF65-F5344CB8AC3E}">
        <p14:creationId xmlns:p14="http://schemas.microsoft.com/office/powerpoint/2010/main" val="415567412"/>
      </p:ext>
    </p:extLst>
  </p:cSld>
</p:sld>
</file>

<file path=ppt/slides/slide6.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1633334A-AB17-4184-A3E8-64CF41EC78AB}"/>
              </a:ext>
            </a:extLst>
          </p:cNvPr>
          <p:cNvSpPr>
            <a:spLocks xmlns:a="http://schemas.openxmlformats.org/drawingml/2006/main" noGrp="1"/>
          </p:cNvSpPr>
          <p:nvPr/>
        </p:nvSpPr>
        <p:spPr>
          <a:xfrm xmlns:a="http://schemas.openxmlformats.org/drawingml/2006/main" rot="0">
            <a:off x="4798359" y="1019175"/>
            <a:ext cx="8691283" cy="1042797"/>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ts val="6324"/>
              </a:lnSpc>
              <a:buNone/>
            </a:pPr>
            <a:r>
              <a:rPr sz="6800" b="1">
                <a:solidFill>
                  <a:srgbClr val="000000"/>
                </a:solidFill>
                <a:latin typeface="Cooper Hewitt Bold"/>
                <a:ea typeface="Cooper Hewitt Bold"/>
                <a:cs typeface="Cooper Hewitt Bold"/>
              </a:rPr>
              <a:t>Results</a:t>
            </a:r>
          </a:p>
        </p:txBody>
      </p:sp>
      <p:sp>
        <p:nvSpPr>
          <p:cNvPr id="3" name="TextBox 3">
            <a:extLst xmlns:a="http://schemas.openxmlformats.org/drawingml/2006/main">
              <a:ext uri="{FF2B5EF4-FFF2-40B4-BE49-F238E27FC236}">
                <a16:creationId xmlns:a16="http://schemas.microsoft.com/office/drawing/2014/main" id="{6EAA404C-BA5D-4C92-AA9E-4E9713550734}"/>
              </a:ext>
            </a:extLst>
          </p:cNvPr>
          <p:cNvSpPr>
            <a:spLocks xmlns:a="http://schemas.openxmlformats.org/drawingml/2006/main" noGrp="1"/>
          </p:cNvSpPr>
          <p:nvPr/>
        </p:nvSpPr>
        <p:spPr>
          <a:xfrm xmlns:a="http://schemas.openxmlformats.org/drawingml/2006/main" rot="0">
            <a:off x="1028700" y="2503805"/>
            <a:ext cx="6727952" cy="22225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a:solidFill>
                  <a:srgbClr val="000000"/>
                </a:solidFill>
                <a:latin typeface="Georgia Pro"/>
                <a:ea typeface="Georgia Pro"/>
                <a:cs typeface="Georgia Pro"/>
              </a:rPr>
              <a:t>METRIC  |  0.50  |  0.787903</a:t>
            </a:r>
          </a:p>
          <a:p xmlns:a="http://schemas.openxmlformats.org/drawingml/2006/main">
            <a:pPr algn="l">
              <a:lnSpc>
                <a:spcPts val="3500"/>
              </a:lnSpc>
              <a:buNone/>
            </a:pPr>
            <a:r>
              <a:rPr sz="2800">
                <a:solidFill>
                  <a:srgbClr val="000000"/>
                </a:solidFill>
                <a:latin typeface="Georgia Pro"/>
                <a:ea typeface="Georgia Pro"/>
                <a:cs typeface="Georgia Pro"/>
              </a:rPr>
              <a:t>Precision  |  0.032  |  0.071</a:t>
            </a:r>
          </a:p>
          <a:p xmlns:a="http://schemas.openxmlformats.org/drawingml/2006/main">
            <a:pPr algn="l">
              <a:lnSpc>
                <a:spcPts val="3500"/>
              </a:lnSpc>
              <a:buNone/>
            </a:pPr>
            <a:r>
              <a:rPr sz="2800">
                <a:solidFill>
                  <a:srgbClr val="000000"/>
                </a:solidFill>
                <a:latin typeface="Georgia Pro"/>
                <a:ea typeface="Georgia Pro"/>
                <a:cs typeface="Georgia Pro"/>
              </a:rPr>
              <a:t>Recall  |  0.658  |  0.297</a:t>
            </a:r>
          </a:p>
          <a:p xmlns:a="http://schemas.openxmlformats.org/drawingml/2006/main">
            <a:pPr algn="l">
              <a:lnSpc>
                <a:spcPts val="3500"/>
              </a:lnSpc>
              <a:buNone/>
            </a:pPr>
            <a:r>
              <a:rPr sz="2800">
                <a:solidFill>
                  <a:srgbClr val="000000"/>
                </a:solidFill>
                <a:latin typeface="Georgia Pro"/>
                <a:ea typeface="Georgia Pro"/>
                <a:cs typeface="Georgia Pro"/>
              </a:rPr>
              <a:t>Positive F1  |  0.060  |  0.115</a:t>
            </a:r>
          </a:p>
          <a:p xmlns:a="http://schemas.openxmlformats.org/drawingml/2006/main">
            <a:pPr algn="l">
              <a:lnSpc>
                <a:spcPts val="3500"/>
              </a:lnSpc>
              <a:buNone/>
            </a:pPr>
            <a:r>
              <a:rPr sz="2800">
                <a:solidFill>
                  <a:srgbClr val="000000"/>
                </a:solidFill>
                <a:latin typeface="Georgia Pro"/>
                <a:ea typeface="Georgia Pro"/>
                <a:cs typeface="Georgia Pro"/>
              </a:rPr>
              <a:t>Specificity  |  0.783  |  0.958</a:t>
            </a:r>
          </a:p>
        </p:txBody>
      </p:sp>
      <p:sp>
        <p:nvSpPr>
          <p:cNvPr id="4" name="TextBox 4">
            <a:extLst xmlns:a="http://schemas.openxmlformats.org/drawingml/2006/main">
              <a:ext uri="{FF2B5EF4-FFF2-40B4-BE49-F238E27FC236}">
                <a16:creationId xmlns:a16="http://schemas.microsoft.com/office/drawing/2014/main" id="{20B4CAF5-9C0B-4BA3-9DF7-AFDBE90C37E1}"/>
              </a:ext>
            </a:extLst>
          </p:cNvPr>
          <p:cNvSpPr>
            <a:spLocks xmlns:a="http://schemas.openxmlformats.org/drawingml/2006/main" noGrp="1"/>
          </p:cNvSpPr>
          <p:nvPr/>
        </p:nvSpPr>
        <p:spPr>
          <a:xfrm xmlns:a="http://schemas.openxmlformats.org/drawingml/2006/main" rot="0">
            <a:off x="8487376" y="2750440"/>
            <a:ext cx="8115300" cy="132524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a:solidFill>
                  <a:srgbClr val="000000"/>
                </a:solidFill>
                <a:latin typeface="Georgia Pro"/>
                <a:ea typeface="Georgia Pro"/>
                <a:cs typeface="Georgia Pro"/>
              </a:rPr>
              <a:t>Class-weighted extended</a:t>
            </a:r>
          </a:p>
          <a:p xmlns:a="http://schemas.openxmlformats.org/drawingml/2006/main">
            <a:pPr algn="l">
              <a:lnSpc>
                <a:spcPts val="3500"/>
              </a:lnSpc>
              <a:buNone/>
            </a:pPr>
            <a:r>
              <a:rPr sz="2800">
                <a:solidFill>
                  <a:srgbClr val="000000"/>
                </a:solidFill>
                <a:latin typeface="Georgia Pro"/>
                <a:ea typeface="Georgia Pro"/>
                <a:cs typeface="Georgia Pro"/>
              </a:rPr>
              <a:t>Logistic Regression</a:t>
            </a:r>
          </a:p>
        </p:txBody>
      </p:sp>
      <p:sp>
        <p:nvSpPr>
          <p:cNvPr id="5" name="TextBox 5">
            <a:extLst xmlns:a="http://schemas.openxmlformats.org/drawingml/2006/main">
              <a:ext uri="{FF2B5EF4-FFF2-40B4-BE49-F238E27FC236}">
                <a16:creationId xmlns:a16="http://schemas.microsoft.com/office/drawing/2014/main" id="{4FB07EDB-52C0-4474-AA5E-F7A389837FF3}"/>
              </a:ext>
            </a:extLst>
          </p:cNvPr>
          <p:cNvSpPr>
            <a:spLocks xmlns:a="http://schemas.openxmlformats.org/drawingml/2006/main" noGrp="1"/>
          </p:cNvSpPr>
          <p:nvPr/>
        </p:nvSpPr>
        <p:spPr>
          <a:xfrm xmlns:a="http://schemas.openxmlformats.org/drawingml/2006/main" rot="0">
            <a:off x="8487376" y="5245990"/>
            <a:ext cx="8115300" cy="13335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a:solidFill>
                  <a:srgbClr val="000000"/>
                </a:solidFill>
                <a:latin typeface="Georgia Pro"/>
                <a:ea typeface="Georgia Pro"/>
                <a:cs typeface="Georgia Pro"/>
              </a:rPr>
              <a:t>ROC-AUC  0.794</a:t>
            </a:r>
          </a:p>
          <a:p xmlns:a="http://schemas.openxmlformats.org/drawingml/2006/main">
            <a:pPr algn="l">
              <a:lnSpc>
                <a:spcPts val="3500"/>
              </a:lnSpc>
              <a:buNone/>
            </a:pPr>
            <a:r>
              <a:rPr sz="2800">
                <a:solidFill>
                  <a:srgbClr val="000000"/>
                </a:solidFill>
                <a:latin typeface="Georgia Pro"/>
                <a:ea typeface="Georgia Pro"/>
                <a:cs typeface="Georgia Pro"/>
              </a:rPr>
              <a:t>PR-AUC   0.069</a:t>
            </a:r>
          </a:p>
          <a:p xmlns:a="http://schemas.openxmlformats.org/drawingml/2006/main">
            <a:pPr algn="l">
              <a:lnSpc>
                <a:spcPts val="3500"/>
              </a:lnSpc>
              <a:buNone/>
            </a:pPr>
            <a:r>
              <a:rPr sz="2800">
                <a:solidFill>
                  <a:srgbClr val="000000"/>
                </a:solidFill>
                <a:latin typeface="Georgia Pro"/>
                <a:ea typeface="Georgia Pro"/>
                <a:cs typeface="Georgia Pro"/>
              </a:rPr>
              <a:t>Prevalence baseline  ≈ 0.011</a:t>
            </a:r>
          </a:p>
        </p:txBody>
      </p:sp>
      <p:sp>
        <p:nvSpPr>
          <p:cNvPr id="6" name="TextBox 6">
            <a:extLst xmlns:a="http://schemas.openxmlformats.org/drawingml/2006/main">
              <a:ext uri="{FF2B5EF4-FFF2-40B4-BE49-F238E27FC236}">
                <a16:creationId xmlns:a16="http://schemas.microsoft.com/office/drawing/2014/main" id="{F0B6B721-7124-4933-889D-E2CAD8FF1905}"/>
              </a:ext>
            </a:extLst>
          </p:cNvPr>
          <p:cNvSpPr>
            <a:spLocks xmlns:a="http://schemas.openxmlformats.org/drawingml/2006/main" noGrp="1"/>
          </p:cNvSpPr>
          <p:nvPr/>
        </p:nvSpPr>
        <p:spPr>
          <a:xfrm xmlns:a="http://schemas.openxmlformats.org/drawingml/2006/main" rot="0">
            <a:off x="8487376" y="7741540"/>
            <a:ext cx="8115300" cy="133350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a:solidFill>
                  <a:srgbClr val="000000"/>
                </a:solidFill>
                <a:latin typeface="Georgia Pro"/>
                <a:ea typeface="Georgia Pro"/>
                <a:cs typeface="Georgia Pro"/>
              </a:rPr>
              <a:t>47 positive cases identified</a:t>
            </a:r>
          </a:p>
          <a:p xmlns:a="http://schemas.openxmlformats.org/drawingml/2006/main">
            <a:pPr algn="l">
              <a:lnSpc>
                <a:spcPts val="3500"/>
              </a:lnSpc>
              <a:buNone/>
            </a:pPr>
            <a:r>
              <a:rPr sz="2800">
                <a:solidFill>
                  <a:srgbClr val="000000"/>
                </a:solidFill>
                <a:latin typeface="Georgia Pro"/>
                <a:ea typeface="Georgia Pro"/>
                <a:cs typeface="Georgia Pro"/>
              </a:rPr>
              <a:t>111 positive cases missed</a:t>
            </a:r>
          </a:p>
          <a:p xmlns:a="http://schemas.openxmlformats.org/drawingml/2006/main">
            <a:pPr algn="l">
              <a:lnSpc>
                <a:spcPts val="3500"/>
              </a:lnSpc>
              <a:buNone/>
            </a:pPr>
            <a:r>
              <a:rPr sz="2800">
                <a:solidFill>
                  <a:srgbClr val="000000"/>
                </a:solidFill>
                <a:latin typeface="Georgia Pro"/>
                <a:ea typeface="Georgia Pro"/>
                <a:cs typeface="Georgia Pro"/>
              </a:rPr>
              <a:t>Proof of concept only</a:t>
            </a:r>
          </a:p>
        </p:txBody>
      </p:sp>
      <p:sp>
        <p:nvSpPr>
          <p:cNvPr id="7" name="TextBox 7">
            <a:extLst xmlns:a="http://schemas.openxmlformats.org/drawingml/2006/main">
              <a:ext uri="{FF2B5EF4-FFF2-40B4-BE49-F238E27FC236}">
                <a16:creationId xmlns:a16="http://schemas.microsoft.com/office/drawing/2014/main" id="{73CCA315-4BF0-4A3A-B27E-0644C48F70BE}"/>
              </a:ext>
            </a:extLst>
          </p:cNvPr>
          <p:cNvSpPr>
            <a:spLocks xmlns:a="http://schemas.openxmlformats.org/drawingml/2006/main" noGrp="1"/>
          </p:cNvSpPr>
          <p:nvPr/>
        </p:nvSpPr>
        <p:spPr>
          <a:xfrm xmlns:a="http://schemas.openxmlformats.org/drawingml/2006/main" rot="0">
            <a:off x="8487376" y="2215770"/>
            <a:ext cx="8115300" cy="44894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b="1">
                <a:solidFill>
                  <a:srgbClr val="000000"/>
                </a:solidFill>
                <a:latin typeface="Georgia Pro Bold"/>
                <a:ea typeface="Georgia Pro Bold"/>
                <a:cs typeface="Georgia Pro Bold"/>
              </a:rPr>
              <a:t>Selected winner</a:t>
            </a:r>
          </a:p>
        </p:txBody>
      </p:sp>
      <p:sp>
        <p:nvSpPr>
          <p:cNvPr id="8" name="TextBox 8">
            <a:extLst xmlns:a="http://schemas.openxmlformats.org/drawingml/2006/main">
              <a:ext uri="{FF2B5EF4-FFF2-40B4-BE49-F238E27FC236}">
                <a16:creationId xmlns:a16="http://schemas.microsoft.com/office/drawing/2014/main" id="{72D5C609-E704-45CB-8831-FF21D6118285}"/>
              </a:ext>
            </a:extLst>
          </p:cNvPr>
          <p:cNvSpPr>
            <a:spLocks xmlns:a="http://schemas.openxmlformats.org/drawingml/2006/main" noGrp="1"/>
          </p:cNvSpPr>
          <p:nvPr/>
        </p:nvSpPr>
        <p:spPr>
          <a:xfrm xmlns:a="http://schemas.openxmlformats.org/drawingml/2006/main" rot="0">
            <a:off x="8487376" y="4713225"/>
            <a:ext cx="8115300" cy="44894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b="1">
                <a:solidFill>
                  <a:srgbClr val="000000"/>
                </a:solidFill>
                <a:latin typeface="Georgia Pro Bold"/>
                <a:ea typeface="Georgia Pro Bold"/>
                <a:cs typeface="Georgia Pro Bold"/>
              </a:rPr>
              <a:t>Ranking performance</a:t>
            </a:r>
          </a:p>
        </p:txBody>
      </p:sp>
      <p:sp>
        <p:nvSpPr>
          <p:cNvPr id="9" name="TextBox 9">
            <a:extLst xmlns:a="http://schemas.openxmlformats.org/drawingml/2006/main">
              <a:ext uri="{FF2B5EF4-FFF2-40B4-BE49-F238E27FC236}">
                <a16:creationId xmlns:a16="http://schemas.microsoft.com/office/drawing/2014/main" id="{20294C01-83EB-4357-AB3D-A5C179408985}"/>
              </a:ext>
            </a:extLst>
          </p:cNvPr>
          <p:cNvSpPr>
            <a:spLocks xmlns:a="http://schemas.openxmlformats.org/drawingml/2006/main" noGrp="1"/>
          </p:cNvSpPr>
          <p:nvPr/>
        </p:nvSpPr>
        <p:spPr>
          <a:xfrm xmlns:a="http://schemas.openxmlformats.org/drawingml/2006/main" rot="0">
            <a:off x="8487376" y="7194738"/>
            <a:ext cx="8115300" cy="44894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ts val="3500"/>
              </a:lnSpc>
              <a:buNone/>
            </a:pPr>
            <a:r>
              <a:rPr sz="2800" b="1">
                <a:solidFill>
                  <a:srgbClr val="000000"/>
                </a:solidFill>
                <a:latin typeface="Georgia Pro Bold"/>
                <a:ea typeface="Georgia Pro Bold"/>
                <a:cs typeface="Georgia Pro Bold"/>
              </a:rPr>
              <a:t>F2 operating point</a:t>
            </a:r>
          </a:p>
        </p:txBody>
      </p:sp>
      <p:sp>
        <p:nvSpPr>
          <p:cNvPr id="10" name="Freeform 10">
            <a:extLst xmlns:a="http://schemas.openxmlformats.org/drawingml/2006/main">
              <a:ext uri="{FF2B5EF4-FFF2-40B4-BE49-F238E27FC236}">
                <a16:creationId xmlns:a16="http://schemas.microsoft.com/office/drawing/2014/main" id="{88D5A35A-5355-4CBD-B5B4-57D448122F10}"/>
              </a:ext>
            </a:extLst>
          </p:cNvPr>
          <p:cNvSpPr>
            <a:spLocks xmlns:a="http://schemas.openxmlformats.org/drawingml/2006/main" noGrp="1"/>
          </p:cNvSpPr>
          <p:nvPr/>
        </p:nvSpPr>
        <p:spPr>
          <a:xfrm xmlns:a="http://schemas.openxmlformats.org/drawingml/2006/main" rot="0" flipH="0" flipV="0">
            <a:off x="2268108" y="5466080"/>
            <a:ext cx="4187746" cy="3433952"/>
          </a:xfrm>
          <a:custGeom xmlns:a="http://schemas.openxmlformats.org/drawingml/2006/main">
            <a:rect l="l" t="t" r="r" b="b"/>
            <a:pathLst>
              <a:path w="4187746" h="3433952">
                <a:moveTo>
                  <a:pt x="0" y="0"/>
                </a:moveTo>
                <a:lnTo>
                  <a:pt x="4187746" y="0"/>
                </a:lnTo>
                <a:lnTo>
                  <a:pt x="4187746" y="3433952"/>
                </a:lnTo>
                <a:lnTo>
                  <a:pt x="0" y="3433952"/>
                </a:lnTo>
                <a:lnTo>
                  <a:pt x="0" y="0"/>
                </a:lnTo>
                <a:close/>
              </a:path>
            </a:pathLst>
          </a:custGeom>
          <a:blipFill xmlns:a="http://schemas.openxmlformats.org/drawingml/2006/main">
            <a:blip xmlns:r="http://schemas.openxmlformats.org/officeDocument/2006/relationships" r:embed="R205a2dfdadc847ef">
              <a:extLst>
                <a:ext uri="{96DAC541-7B7A-43D3-8B79-37D633B846F1}">
                  <asvg:svgBlip xmlns:asvg="http://schemas.microsoft.com/office/drawing/2016/SVG/main" r:embed="Rd3171e6f14534354"/>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C3C2B70C-7391-4E2E-82C8-90533DC2988C}"/>
              </a:ext>
            </a:extLst>
          </p:cNvPr>
          <p:cNvSpPr>
            <a:spLocks xmlns:a="http://schemas.openxmlformats.org/drawingml/2006/main" noGrp="1"/>
          </p:cNvSpPr>
          <p:nvPr/>
        </p:nvSpPr>
        <p:spPr>
          <a:xfrm xmlns:a="http://schemas.openxmlformats.org/drawingml/2006/main" rot="0" flipH="0" flipV="0">
            <a:off x="16422240" y="6136710"/>
            <a:ext cx="2152294" cy="4320299"/>
          </a:xfrm>
          <a:custGeom xmlns:a="http://schemas.openxmlformats.org/drawingml/2006/main">
            <a:rect l="l" t="t" r="r" b="b"/>
            <a:pathLst>
              <a:path w="2152294" h="4320299">
                <a:moveTo>
                  <a:pt x="0" y="0"/>
                </a:moveTo>
                <a:lnTo>
                  <a:pt x="2152295" y="0"/>
                </a:lnTo>
                <a:lnTo>
                  <a:pt x="2152295" y="4320299"/>
                </a:lnTo>
                <a:lnTo>
                  <a:pt x="0" y="4320299"/>
                </a:lnTo>
                <a:lnTo>
                  <a:pt x="0" y="0"/>
                </a:lnTo>
                <a:close/>
              </a:path>
            </a:pathLst>
          </a:custGeom>
          <a:blipFill xmlns:a="http://schemas.openxmlformats.org/drawingml/2006/main">
            <a:blip xmlns:r="http://schemas.openxmlformats.org/officeDocument/2006/relationships" r:embed="Rf0a2f7ec7faf4eb7">
              <a:extLst>
                <a:ext uri="{96DAC541-7B7A-43D3-8B79-37D633B846F1}">
                  <asvg:svgBlip xmlns:asvg="http://schemas.microsoft.com/office/drawing/2016/SVG/main" r:embed="R5a0a7d2c055a466e"/>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76F80628-F830-4480-B84A-96FB459EDB0C}"/>
              </a:ext>
            </a:extLst>
          </p:cNvPr>
          <p:cNvSpPr>
            <a:spLocks xmlns:a="http://schemas.openxmlformats.org/drawingml/2006/main" noGrp="1"/>
          </p:cNvSpPr>
          <p:nvPr/>
        </p:nvSpPr>
        <p:spPr>
          <a:xfrm xmlns:a="http://schemas.openxmlformats.org/drawingml/2006/main" rot="-5400000" flipH="0" flipV="1">
            <a:off x="695096" y="-1317114"/>
            <a:ext cx="2047276" cy="4109495"/>
          </a:xfrm>
          <a:custGeom xmlns:a="http://schemas.openxmlformats.org/drawingml/2006/main">
            <a:rect l="l" t="t" r="r" b="b"/>
            <a:pathLst>
              <a:path w="2047276" h="4109495">
                <a:moveTo>
                  <a:pt x="0" y="4109494"/>
                </a:moveTo>
                <a:lnTo>
                  <a:pt x="2047275" y="4109494"/>
                </a:lnTo>
                <a:lnTo>
                  <a:pt x="2047275" y="0"/>
                </a:lnTo>
                <a:lnTo>
                  <a:pt x="0" y="0"/>
                </a:lnTo>
                <a:lnTo>
                  <a:pt x="0" y="4109494"/>
                </a:lnTo>
                <a:close/>
              </a:path>
            </a:pathLst>
          </a:custGeom>
          <a:blipFill xmlns:a="http://schemas.openxmlformats.org/drawingml/2006/main">
            <a:blip xmlns:r="http://schemas.openxmlformats.org/officeDocument/2006/relationships" r:embed="Rf0a2f7ec7faf4eb7">
              <a:extLst>
                <a:ext uri="{96DAC541-7B7A-43D3-8B79-37D633B846F1}">
                  <asvg:svgBlip xmlns:asvg="http://schemas.microsoft.com/office/drawing/2016/SVG/main" r:embed="R5a0a7d2c055a466e"/>
                </a:ext>
              </a:extLst>
            </a:blip>
            <a:stretch>
              <a:fillRect l="0" t="0" r="0" b="0"/>
            </a:stretch>
          </a:blipFill>
        </p:spPr>
      </p:sp>
    </p:spTree>
    <p:extLst>
      <p:ext uri="{BB962C8B-B14F-4D97-AF65-F5344CB8AC3E}">
        <p14:creationId xmlns:p14="http://schemas.microsoft.com/office/powerpoint/2010/main" val="561856430"/>
      </p:ext>
    </p:extLst>
  </p:cSld>
</p:sld>
</file>

<file path=ppt/slides/slide7.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12B16A05-76C5-4461-9C9E-876DA56F6D91}"/>
              </a:ext>
            </a:extLst>
          </p:cNvPr>
          <p:cNvSpPr>
            <a:spLocks xmlns:a="http://schemas.openxmlformats.org/drawingml/2006/main" noGrp="1"/>
          </p:cNvSpPr>
          <p:nvPr/>
        </p:nvSpPr>
        <p:spPr>
          <a:xfrm xmlns:a="http://schemas.openxmlformats.org/drawingml/2006/main" rot="0" flipH="0" flipV="0">
            <a:off x="8487575" y="2497691"/>
            <a:ext cx="8771725" cy="4338017"/>
          </a:xfrm>
          <a:custGeom xmlns:a="http://schemas.openxmlformats.org/drawingml/2006/main">
            <a:rect l="l" t="t" r="r" b="b"/>
            <a:pathLst>
              <a:path w="8771725" h="4338017">
                <a:moveTo>
                  <a:pt x="0" y="0"/>
                </a:moveTo>
                <a:lnTo>
                  <a:pt x="8771725" y="0"/>
                </a:lnTo>
                <a:lnTo>
                  <a:pt x="8771725" y="4338016"/>
                </a:lnTo>
                <a:lnTo>
                  <a:pt x="0" y="4338016"/>
                </a:lnTo>
                <a:lnTo>
                  <a:pt x="0" y="0"/>
                </a:lnTo>
                <a:close/>
              </a:path>
            </a:pathLst>
          </a:custGeom>
          <a:blipFill xmlns:a="http://schemas.openxmlformats.org/drawingml/2006/main">
            <a:blip xmlns:r="http://schemas.openxmlformats.org/officeDocument/2006/relationships" r:embed="R5e5e0942b7ce4b36">
              <a:alphaModFix amt="43999"/>
              <a:extLst>
                <a:ext uri="{96DAC541-7B7A-43D3-8B79-37D633B846F1}">
                  <asvg:svgBlip xmlns:asvg="http://schemas.microsoft.com/office/drawing/2016/SVG/main" r:embed="R7b1b8745108740ec"/>
                </a:ext>
              </a:extLst>
            </a:blip>
            <a:stretch>
              <a:fillRect l="0" t="0" r="0" b="0"/>
            </a:stretch>
          </a:blipFill>
        </p:spPr>
      </p:sp>
      <p:pic>
        <p:nvPicPr>
          <p:cNvPr id="14" name="Picture 3"/>
          <p:cNvPicPr>
            <a:picLocks xmlns:a="http://schemas.openxmlformats.org/drawingml/2006/main" noChangeAspect="1"/>
          </p:cNvPicPr>
          <p:nvPr/>
        </p:nvPicPr>
        <p:blipFill>
          <a:blip xmlns:r="http://schemas.openxmlformats.org/officeDocument/2006/relationships" xmlns:a="http://schemas.openxmlformats.org/drawingml/2006/main" r:embed="Ra17f602b7b344e84"/>
          <a:srcRect xmlns:a="http://schemas.openxmlformats.org/drawingml/2006/main" l="0" t="0" r="0" b="0"/>
          <a:stretch xmlns:a="http://schemas.openxmlformats.org/drawingml/2006/main">
            <a:fillRect l="0" t="0" r="0" b="0"/>
          </a:stretch>
        </p:blipFill>
        <p:spPr>
          <a:xfrm xmlns:a="http://schemas.openxmlformats.org/drawingml/2006/main" rot="0" flipH="0" flipV="0">
            <a:off x="8704429" y="2866388"/>
            <a:ext cx="8029516" cy="6730832"/>
          </a:xfrm>
          <a:prstGeom xmlns:a="http://schemas.openxmlformats.org/drawingml/2006/main" prst="rect">
            <a:avLst/>
          </a:prstGeom>
        </p:spPr>
      </p:pic>
      <p:sp>
        <p:nvSpPr>
          <p:cNvPr id="4" name="TextBox 4">
            <a:extLst xmlns:a="http://schemas.openxmlformats.org/drawingml/2006/main">
              <a:ext uri="{FF2B5EF4-FFF2-40B4-BE49-F238E27FC236}">
                <a16:creationId xmlns:a16="http://schemas.microsoft.com/office/drawing/2014/main" id="{71A4D9DB-BE7B-4C81-99CF-5F4BAA6DDF85}"/>
              </a:ext>
            </a:extLst>
          </p:cNvPr>
          <p:cNvSpPr>
            <a:spLocks xmlns:a="http://schemas.openxmlformats.org/drawingml/2006/main" noGrp="1"/>
          </p:cNvSpPr>
          <p:nvPr/>
        </p:nvSpPr>
        <p:spPr>
          <a:xfrm xmlns:a="http://schemas.openxmlformats.org/drawingml/2006/main" rot="0">
            <a:off x="5130782" y="1019175"/>
            <a:ext cx="8691283" cy="1606296"/>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ts val="6324"/>
              </a:lnSpc>
              <a:buNone/>
            </a:pPr>
            <a:r>
              <a:rPr sz="3900" b="1">
                <a:solidFill>
                  <a:srgbClr val="000000"/>
                </a:solidFill>
                <a:latin typeface="Cooper Hewitt Bold"/>
                <a:ea typeface="Cooper Hewitt Bold"/>
                <a:cs typeface="Cooper Hewitt Bold"/>
              </a:rPr>
              <a:t>Explainability and limitations</a:t>
            </a:r>
          </a:p>
        </p:txBody>
      </p:sp>
      <p:sp>
        <p:nvSpPr>
          <p:cNvPr id="5" name="TextBox 5">
            <a:extLst xmlns:a="http://schemas.openxmlformats.org/drawingml/2006/main">
              <a:ext uri="{FF2B5EF4-FFF2-40B4-BE49-F238E27FC236}">
                <a16:creationId xmlns:a16="http://schemas.microsoft.com/office/drawing/2014/main" id="{D76F4CF4-9853-4098-A40B-5D15F66E0DC7}"/>
              </a:ext>
            </a:extLst>
          </p:cNvPr>
          <p:cNvSpPr>
            <a:spLocks xmlns:a="http://schemas.openxmlformats.org/drawingml/2006/main" noGrp="1"/>
          </p:cNvSpPr>
          <p:nvPr/>
        </p:nvSpPr>
        <p:spPr>
          <a:xfrm xmlns:a="http://schemas.openxmlformats.org/drawingml/2006/main" rot="0">
            <a:off x="1028700" y="2788722"/>
            <a:ext cx="7085133" cy="176339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604523" lvl="1" indent="-302261" algn="l">
              <a:lnSpc>
                <a:spcPts val="3500"/>
              </a:lnSpc>
              <a:buFont typeface="Arial"/>
              <a:buChar char="•"/>
            </a:pPr>
            <a:r>
              <a:rPr sz="2800">
                <a:solidFill>
                  <a:srgbClr val="000000"/>
                </a:solidFill>
                <a:latin typeface="Georgia Pro"/>
                <a:ea typeface="Georgia Pro"/>
                <a:cs typeface="Georgia Pro"/>
              </a:rPr>
              <a:t>KEY DRIVERS — Blood-pressure history • General health • Smoking</a:t>
            </a:r>
          </a:p>
        </p:txBody>
      </p:sp>
      <p:sp>
        <p:nvSpPr>
          <p:cNvPr id="6" name="TextBox 6">
            <a:extLst xmlns:a="http://schemas.openxmlformats.org/drawingml/2006/main">
              <a:ext uri="{FF2B5EF4-FFF2-40B4-BE49-F238E27FC236}">
                <a16:creationId xmlns:a16="http://schemas.microsoft.com/office/drawing/2014/main" id="{BEBD1B94-8AE0-4D29-A986-3C76176A0B4D}"/>
              </a:ext>
            </a:extLst>
          </p:cNvPr>
          <p:cNvSpPr>
            <a:spLocks xmlns:a="http://schemas.openxmlformats.org/drawingml/2006/main" noGrp="1"/>
          </p:cNvSpPr>
          <p:nvPr/>
        </p:nvSpPr>
        <p:spPr>
          <a:xfrm xmlns:a="http://schemas.openxmlformats.org/drawingml/2006/main" rot="0">
            <a:off x="1028700" y="4874731"/>
            <a:ext cx="7085133" cy="176339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604523" lvl="1" indent="-302261" algn="l">
              <a:lnSpc>
                <a:spcPts val="3500"/>
              </a:lnSpc>
              <a:buFont typeface="Arial"/>
              <a:buChar char="•"/>
            </a:pPr>
            <a:r>
              <a:rPr sz="2800">
                <a:solidFill>
                  <a:srgbClr val="000000"/>
                </a:solidFill>
                <a:latin typeface="Georgia Pro"/>
                <a:ea typeface="Georgia Pro"/>
                <a:cs typeface="Georgia Pro"/>
              </a:rPr>
              <a:t>CONTEXT — Education and income • Sex • Age and BMI</a:t>
            </a:r>
          </a:p>
        </p:txBody>
      </p:sp>
      <p:sp>
        <p:nvSpPr>
          <p:cNvPr id="7" name="TextBox 7">
            <a:extLst xmlns:a="http://schemas.openxmlformats.org/drawingml/2006/main">
              <a:ext uri="{FF2B5EF4-FFF2-40B4-BE49-F238E27FC236}">
                <a16:creationId xmlns:a16="http://schemas.microsoft.com/office/drawing/2014/main" id="{29BBE5C7-62AC-4577-A293-3DF121D50741}"/>
              </a:ext>
            </a:extLst>
          </p:cNvPr>
          <p:cNvSpPr>
            <a:spLocks xmlns:a="http://schemas.openxmlformats.org/drawingml/2006/main" noGrp="1"/>
          </p:cNvSpPr>
          <p:nvPr/>
        </p:nvSpPr>
        <p:spPr>
          <a:xfrm xmlns:a="http://schemas.openxmlformats.org/drawingml/2006/main" rot="0">
            <a:off x="1028700" y="6960740"/>
            <a:ext cx="7085133" cy="176339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604523" lvl="1" indent="-302261" algn="l">
              <a:lnSpc>
                <a:spcPts val="3500"/>
              </a:lnSpc>
              <a:buFont typeface="Arial"/>
              <a:buChar char="•"/>
            </a:pPr>
            <a:r>
              <a:rPr sz="2800">
                <a:solidFill>
                  <a:srgbClr val="000000"/>
                </a:solidFill>
                <a:latin typeface="Georgia Pro"/>
                <a:ea typeface="Georgia Pro"/>
                <a:cs typeface="Georgia Pro"/>
              </a:rPr>
              <a:t>LIMITATIONS — Self-reported, cross-sectional data • Not validated for India • Screening aid, not diagnosis</a:t>
            </a:r>
          </a:p>
        </p:txBody>
      </p:sp>
      <p:sp>
        <p:nvSpPr>
          <p:cNvPr id="8" name="Freeform 8">
            <a:extLst xmlns:a="http://schemas.openxmlformats.org/drawingml/2006/main">
              <a:ext uri="{FF2B5EF4-FFF2-40B4-BE49-F238E27FC236}">
                <a16:creationId xmlns:a16="http://schemas.microsoft.com/office/drawing/2014/main" id="{A27C5C74-75AB-4445-9087-2ACC7AB3234C}"/>
              </a:ext>
            </a:extLst>
          </p:cNvPr>
          <p:cNvSpPr>
            <a:spLocks xmlns:a="http://schemas.openxmlformats.org/drawingml/2006/main" noGrp="1"/>
          </p:cNvSpPr>
          <p:nvPr/>
        </p:nvSpPr>
        <p:spPr>
          <a:xfrm xmlns:a="http://schemas.openxmlformats.org/drawingml/2006/main" rot="0" flipH="0" flipV="0">
            <a:off x="422791" y="627639"/>
            <a:ext cx="1807768" cy="2254587"/>
          </a:xfrm>
          <a:custGeom xmlns:a="http://schemas.openxmlformats.org/drawingml/2006/main">
            <a:rect l="l" t="t" r="r" b="b"/>
            <a:pathLst>
              <a:path w="1807768" h="2254587">
                <a:moveTo>
                  <a:pt x="0" y="0"/>
                </a:moveTo>
                <a:lnTo>
                  <a:pt x="1807768" y="0"/>
                </a:lnTo>
                <a:lnTo>
                  <a:pt x="1807768" y="2254587"/>
                </a:lnTo>
                <a:lnTo>
                  <a:pt x="0" y="2254587"/>
                </a:lnTo>
                <a:lnTo>
                  <a:pt x="0" y="0"/>
                </a:lnTo>
                <a:close/>
              </a:path>
            </a:pathLst>
          </a:custGeom>
          <a:blipFill xmlns:a="http://schemas.openxmlformats.org/drawingml/2006/main">
            <a:blip xmlns:r="http://schemas.openxmlformats.org/officeDocument/2006/relationships" r:embed="Rcf24dfc8d8b547fc">
              <a:extLst>
                <a:ext uri="{96DAC541-7B7A-43D3-8B79-37D633B846F1}">
                  <asvg:svgBlip xmlns:asvg="http://schemas.microsoft.com/office/drawing/2016/SVG/main" r:embed="R1adf4416ced042e4"/>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05E6BA08-2277-4085-82C9-7B5F61ECBDE4}"/>
              </a:ext>
            </a:extLst>
          </p:cNvPr>
          <p:cNvSpPr>
            <a:spLocks xmlns:a="http://schemas.openxmlformats.org/drawingml/2006/main" noGrp="1"/>
          </p:cNvSpPr>
          <p:nvPr/>
        </p:nvSpPr>
        <p:spPr>
          <a:xfrm xmlns:a="http://schemas.openxmlformats.org/drawingml/2006/main" rot="-10800000" flipH="0" flipV="0">
            <a:off x="16452906" y="8007500"/>
            <a:ext cx="1612788" cy="2011413"/>
          </a:xfrm>
          <a:custGeom xmlns:a="http://schemas.openxmlformats.org/drawingml/2006/main">
            <a:rect l="l" t="t" r="r" b="b"/>
            <a:pathLst>
              <a:path w="1612788" h="2011413">
                <a:moveTo>
                  <a:pt x="0" y="0"/>
                </a:moveTo>
                <a:lnTo>
                  <a:pt x="1612788" y="0"/>
                </a:lnTo>
                <a:lnTo>
                  <a:pt x="1612788" y="2011413"/>
                </a:lnTo>
                <a:lnTo>
                  <a:pt x="0" y="2011413"/>
                </a:lnTo>
                <a:lnTo>
                  <a:pt x="0" y="0"/>
                </a:lnTo>
                <a:close/>
              </a:path>
            </a:pathLst>
          </a:custGeom>
          <a:blipFill xmlns:a="http://schemas.openxmlformats.org/drawingml/2006/main">
            <a:blip xmlns:r="http://schemas.openxmlformats.org/officeDocument/2006/relationships" r:embed="Rcf24dfc8d8b547fc">
              <a:extLst>
                <a:ext uri="{96DAC541-7B7A-43D3-8B79-37D633B846F1}">
                  <asvg:svgBlip xmlns:asvg="http://schemas.microsoft.com/office/drawing/2016/SVG/main" r:embed="R1adf4416ced042e4"/>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CFF35EE5-5318-4B17-A237-11960E15697F}"/>
              </a:ext>
            </a:extLst>
          </p:cNvPr>
          <p:cNvSpPr>
            <a:spLocks xmlns:a="http://schemas.openxmlformats.org/drawingml/2006/main" noGrp="1"/>
          </p:cNvSpPr>
          <p:nvPr/>
        </p:nvSpPr>
        <p:spPr>
          <a:xfrm xmlns:a="http://schemas.openxmlformats.org/drawingml/2006/main" rot="0" flipH="0" flipV="0">
            <a:off x="-370865" y="9013206"/>
            <a:ext cx="1587311" cy="1587311"/>
          </a:xfrm>
          <a:custGeom xmlns:a="http://schemas.openxmlformats.org/drawingml/2006/main">
            <a:rect l="l" t="t" r="r" b="b"/>
            <a:pathLst>
              <a:path w="1587311" h="1587311">
                <a:moveTo>
                  <a:pt x="0" y="0"/>
                </a:moveTo>
                <a:lnTo>
                  <a:pt x="1587312" y="0"/>
                </a:lnTo>
                <a:lnTo>
                  <a:pt x="1587312" y="1587312"/>
                </a:lnTo>
                <a:lnTo>
                  <a:pt x="0" y="1587312"/>
                </a:lnTo>
                <a:lnTo>
                  <a:pt x="0" y="0"/>
                </a:lnTo>
                <a:close/>
              </a:path>
            </a:pathLst>
          </a:custGeom>
          <a:blipFill xmlns:a="http://schemas.openxmlformats.org/drawingml/2006/main">
            <a:blip xmlns:r="http://schemas.openxmlformats.org/officeDocument/2006/relationships" r:embed="R2a28658682024e2c">
              <a:extLst>
                <a:ext uri="{96DAC541-7B7A-43D3-8B79-37D633B846F1}">
                  <asvg:svgBlip xmlns:asvg="http://schemas.microsoft.com/office/drawing/2016/SVG/main" r:embed="R6ae8df626e394b6b"/>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1F54F218-94F3-4765-9F79-C1C6BB38BCE2}"/>
              </a:ext>
            </a:extLst>
          </p:cNvPr>
          <p:cNvSpPr>
            <a:spLocks xmlns:a="http://schemas.openxmlformats.org/drawingml/2006/main" noGrp="1"/>
          </p:cNvSpPr>
          <p:nvPr/>
        </p:nvSpPr>
        <p:spPr>
          <a:xfrm xmlns:a="http://schemas.openxmlformats.org/drawingml/2006/main" rot="0" flipH="0" flipV="0">
            <a:off x="16938890" y="-317971"/>
            <a:ext cx="1587311" cy="1587311"/>
          </a:xfrm>
          <a:custGeom xmlns:a="http://schemas.openxmlformats.org/drawingml/2006/main">
            <a:rect l="l" t="t" r="r" b="b"/>
            <a:pathLst>
              <a:path w="1587311" h="1587311">
                <a:moveTo>
                  <a:pt x="0" y="0"/>
                </a:moveTo>
                <a:lnTo>
                  <a:pt x="1587311" y="0"/>
                </a:lnTo>
                <a:lnTo>
                  <a:pt x="1587311" y="1587311"/>
                </a:lnTo>
                <a:lnTo>
                  <a:pt x="0" y="1587311"/>
                </a:lnTo>
                <a:lnTo>
                  <a:pt x="0" y="0"/>
                </a:lnTo>
                <a:close/>
              </a:path>
            </a:pathLst>
          </a:custGeom>
          <a:blipFill xmlns:a="http://schemas.openxmlformats.org/drawingml/2006/main">
            <a:blip xmlns:r="http://schemas.openxmlformats.org/officeDocument/2006/relationships" r:embed="R2a28658682024e2c">
              <a:extLst>
                <a:ext uri="{96DAC541-7B7A-43D3-8B79-37D633B846F1}">
                  <asvg:svgBlip xmlns:asvg="http://schemas.microsoft.com/office/drawing/2016/SVG/main" r:embed="R6ae8df626e394b6b"/>
                </a:ext>
              </a:extLst>
            </a:blip>
            <a:stretch>
              <a:fillRect l="0" t="0" r="0" b="0"/>
            </a:stretch>
          </a:blipFill>
        </p:spPr>
      </p:sp>
    </p:spTree>
    <p:extLst>
      <p:ext uri="{BB962C8B-B14F-4D97-AF65-F5344CB8AC3E}">
        <p14:creationId xmlns:p14="http://schemas.microsoft.com/office/powerpoint/2010/main" val="415567412"/>
      </p:ext>
    </p:extLst>
  </p:cSld>
</p:sld>
</file>

<file path=ppt/slides/slide8.xml><?xml version="1.0" encoding="utf-8"?>
<p:sld xmlns:p="http://schemas.openxmlformats.org/presentationml/2006/main">
  <p:cSld>
    <p:bg>
      <p:bgPr>
        <a:solidFill xmlns:a="http://schemas.openxmlformats.org/drawingml/2006/main">
          <a:srgbClr val="FFE7DA"/>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26BC5C3-D426-4D60-AF0A-2182A4133504}"/>
              </a:ext>
            </a:extLst>
          </p:cNvPr>
          <p:cNvSpPr>
            <a:spLocks xmlns:a="http://schemas.openxmlformats.org/drawingml/2006/main" noGrp="1"/>
          </p:cNvSpPr>
          <p:nvPr/>
        </p:nvSpPr>
        <p:spPr>
          <a:xfrm xmlns:a="http://schemas.openxmlformats.org/drawingml/2006/main" rot="0" flipH="0" flipV="0">
            <a:off x="12152528" y="0"/>
            <a:ext cx="6737780" cy="13524742"/>
          </a:xfrm>
          <a:custGeom xmlns:a="http://schemas.openxmlformats.org/drawingml/2006/main">
            <a:rect l="l" t="t" r="r" b="b"/>
            <a:pathLst>
              <a:path w="6737780" h="13524742">
                <a:moveTo>
                  <a:pt x="0" y="0"/>
                </a:moveTo>
                <a:lnTo>
                  <a:pt x="6737781" y="0"/>
                </a:lnTo>
                <a:lnTo>
                  <a:pt x="6737781" y="13524742"/>
                </a:lnTo>
                <a:lnTo>
                  <a:pt x="0" y="13524742"/>
                </a:lnTo>
                <a:lnTo>
                  <a:pt x="0" y="0"/>
                </a:lnTo>
                <a:close/>
              </a:path>
            </a:pathLst>
          </a:custGeom>
          <a:blipFill xmlns:a="http://schemas.openxmlformats.org/drawingml/2006/main">
            <a:blip xmlns:r="http://schemas.openxmlformats.org/officeDocument/2006/relationships" r:embed="R79503a5f6ca7430a">
              <a:extLst>
                <a:ext uri="{96DAC541-7B7A-43D3-8B79-37D633B846F1}">
                  <asvg:svgBlip xmlns:asvg="http://schemas.microsoft.com/office/drawing/2016/SVG/main" r:embed="Rde1a596ce7d94193"/>
                </a:ext>
              </a:extLst>
            </a:blip>
            <a:stretch>
              <a:fillRect l="0" t="0" r="0" b="0"/>
            </a:stretch>
          </a:blipFill>
        </p:spPr>
      </p:sp>
      <p:sp>
        <p:nvSpPr>
          <p:cNvPr id="3" name="TextBox 3">
            <a:extLst xmlns:a="http://schemas.openxmlformats.org/drawingml/2006/main">
              <a:ext uri="{FF2B5EF4-FFF2-40B4-BE49-F238E27FC236}">
                <a16:creationId xmlns:a16="http://schemas.microsoft.com/office/drawing/2014/main" id="{AEDBA914-16EC-4655-BC48-57C539EBA8B8}"/>
              </a:ext>
            </a:extLst>
          </p:cNvPr>
          <p:cNvSpPr>
            <a:spLocks xmlns:a="http://schemas.openxmlformats.org/drawingml/2006/main" noGrp="1"/>
          </p:cNvSpPr>
          <p:nvPr/>
        </p:nvSpPr>
        <p:spPr>
          <a:xfrm xmlns:a="http://schemas.openxmlformats.org/drawingml/2006/main" rot="0">
            <a:off x="2317486" y="3969770"/>
            <a:ext cx="9064755" cy="2428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5658"/>
              </a:lnSpc>
              <a:buNone/>
            </a:pPr>
            <a:r>
              <a:rPr sz="14106" b="1">
                <a:solidFill>
                  <a:srgbClr val="000000"/>
                </a:solidFill>
                <a:latin typeface="Cooper Hewitt Heavy"/>
                <a:ea typeface="Cooper Hewitt Heavy"/>
                <a:cs typeface="Cooper Hewitt Heavy"/>
              </a:rPr>
              <a:t>THANK </a:t>
            </a:r>
          </a:p>
        </p:txBody>
      </p:sp>
      <p:sp>
        <p:nvSpPr>
          <p:cNvPr id="4" name="Freeform 4">
            <a:extLst xmlns:a="http://schemas.openxmlformats.org/drawingml/2006/main">
              <a:ext uri="{FF2B5EF4-FFF2-40B4-BE49-F238E27FC236}">
                <a16:creationId xmlns:a16="http://schemas.microsoft.com/office/drawing/2014/main" id="{59622849-4EF2-4494-88AF-1A293F26FB3F}"/>
              </a:ext>
            </a:extLst>
          </p:cNvPr>
          <p:cNvSpPr>
            <a:spLocks xmlns:a="http://schemas.openxmlformats.org/drawingml/2006/main" noGrp="1"/>
          </p:cNvSpPr>
          <p:nvPr/>
        </p:nvSpPr>
        <p:spPr>
          <a:xfrm xmlns:a="http://schemas.openxmlformats.org/drawingml/2006/main" rot="5400000" flipH="0" flipV="1">
            <a:off x="643664" y="-91976"/>
            <a:ext cx="2619024" cy="3266356"/>
          </a:xfrm>
          <a:custGeom xmlns:a="http://schemas.openxmlformats.org/drawingml/2006/main">
            <a:rect l="l" t="t" r="r" b="b"/>
            <a:pathLst>
              <a:path w="2619024" h="3266356">
                <a:moveTo>
                  <a:pt x="0" y="3266356"/>
                </a:moveTo>
                <a:lnTo>
                  <a:pt x="2619024" y="3266356"/>
                </a:lnTo>
                <a:lnTo>
                  <a:pt x="2619024" y="0"/>
                </a:lnTo>
                <a:lnTo>
                  <a:pt x="0" y="0"/>
                </a:lnTo>
                <a:lnTo>
                  <a:pt x="0" y="3266356"/>
                </a:lnTo>
                <a:close/>
              </a:path>
            </a:pathLst>
          </a:custGeom>
          <a:blipFill xmlns:a="http://schemas.openxmlformats.org/drawingml/2006/main">
            <a:blip xmlns:r="http://schemas.openxmlformats.org/officeDocument/2006/relationships" r:embed="R314e1ce9393f4296">
              <a:extLst>
                <a:ext uri="{96DAC541-7B7A-43D3-8B79-37D633B846F1}">
                  <asvg:svgBlip xmlns:asvg="http://schemas.microsoft.com/office/drawing/2016/SVG/main" r:embed="Ra85569ad55d44672"/>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4FE06C86-CC74-4DF0-8E2B-E4FF0C4C3BE3}"/>
              </a:ext>
            </a:extLst>
          </p:cNvPr>
          <p:cNvSpPr>
            <a:spLocks xmlns:a="http://schemas.openxmlformats.org/drawingml/2006/main" noGrp="1"/>
          </p:cNvSpPr>
          <p:nvPr/>
        </p:nvSpPr>
        <p:spPr>
          <a:xfrm xmlns:a="http://schemas.openxmlformats.org/drawingml/2006/main" rot="0" flipH="1" flipV="0">
            <a:off x="-415159" y="4619931"/>
            <a:ext cx="9136848" cy="4700065"/>
          </a:xfrm>
          <a:custGeom xmlns:a="http://schemas.openxmlformats.org/drawingml/2006/main">
            <a:rect l="l" t="t" r="r" b="b"/>
            <a:pathLst>
              <a:path w="9136848" h="4700065">
                <a:moveTo>
                  <a:pt x="9136848" y="0"/>
                </a:moveTo>
                <a:lnTo>
                  <a:pt x="0" y="0"/>
                </a:lnTo>
                <a:lnTo>
                  <a:pt x="0" y="4700065"/>
                </a:lnTo>
                <a:lnTo>
                  <a:pt x="9136848" y="4700065"/>
                </a:lnTo>
                <a:lnTo>
                  <a:pt x="9136848" y="0"/>
                </a:lnTo>
                <a:close/>
              </a:path>
            </a:pathLst>
          </a:custGeom>
          <a:blipFill xmlns:a="http://schemas.openxmlformats.org/drawingml/2006/main">
            <a:blip xmlns:r="http://schemas.openxmlformats.org/officeDocument/2006/relationships" r:embed="Re179012540c74982">
              <a:extLst>
                <a:ext uri="{96DAC541-7B7A-43D3-8B79-37D633B846F1}">
                  <asvg:svgBlip xmlns:asvg="http://schemas.microsoft.com/office/drawing/2016/SVG/main" r:embed="Rc88955196a8647be"/>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2044AB11-ABF7-47FA-B0C5-4797C05D79C3}"/>
              </a:ext>
            </a:extLst>
          </p:cNvPr>
          <p:cNvSpPr>
            <a:spLocks xmlns:a="http://schemas.openxmlformats.org/drawingml/2006/main" noGrp="1"/>
          </p:cNvSpPr>
          <p:nvPr/>
        </p:nvSpPr>
        <p:spPr>
          <a:xfrm xmlns:a="http://schemas.openxmlformats.org/drawingml/2006/main" rot="0" flipH="0" flipV="0">
            <a:off x="7952038" y="6397960"/>
            <a:ext cx="1444051" cy="1239258"/>
          </a:xfrm>
          <a:custGeom xmlns:a="http://schemas.openxmlformats.org/drawingml/2006/main">
            <a:rect l="l" t="t" r="r" b="b"/>
            <a:pathLst>
              <a:path w="1444051" h="1239258">
                <a:moveTo>
                  <a:pt x="0" y="0"/>
                </a:moveTo>
                <a:lnTo>
                  <a:pt x="1444051" y="0"/>
                </a:lnTo>
                <a:lnTo>
                  <a:pt x="1444051" y="1239258"/>
                </a:lnTo>
                <a:lnTo>
                  <a:pt x="0" y="1239258"/>
                </a:lnTo>
                <a:lnTo>
                  <a:pt x="0" y="0"/>
                </a:lnTo>
                <a:close/>
              </a:path>
            </a:pathLst>
          </a:custGeom>
          <a:blipFill xmlns:a="http://schemas.openxmlformats.org/drawingml/2006/main">
            <a:blip xmlns:r="http://schemas.openxmlformats.org/officeDocument/2006/relationships" r:embed="R25bf1b52902d49bb">
              <a:extLst>
                <a:ext uri="{96DAC541-7B7A-43D3-8B79-37D633B846F1}">
                  <asvg:svgBlip xmlns:asvg="http://schemas.microsoft.com/office/drawing/2016/SVG/main" r:embed="Rc40f12125f624e40"/>
                </a:ext>
              </a:extLst>
            </a:blip>
            <a:stretch>
              <a:fillRect l="0" t="0" r="0" b="0"/>
            </a:stretch>
          </a:blipFill>
        </p:spPr>
      </p:sp>
      <p:sp>
        <p:nvSpPr>
          <p:cNvPr id="7" name="TextBox 7">
            <a:extLst xmlns:a="http://schemas.openxmlformats.org/drawingml/2006/main">
              <a:ext uri="{FF2B5EF4-FFF2-40B4-BE49-F238E27FC236}">
                <a16:creationId xmlns:a16="http://schemas.microsoft.com/office/drawing/2014/main" id="{ABEB62BC-0102-47AD-A16F-366D49F55299}"/>
              </a:ext>
            </a:extLst>
          </p:cNvPr>
          <p:cNvSpPr>
            <a:spLocks xmlns:a="http://schemas.openxmlformats.org/drawingml/2006/main" noGrp="1"/>
          </p:cNvSpPr>
          <p:nvPr/>
        </p:nvSpPr>
        <p:spPr>
          <a:xfrm xmlns:a="http://schemas.openxmlformats.org/drawingml/2006/main" rot="0">
            <a:off x="9583311" y="3969770"/>
            <a:ext cx="4003279" cy="2428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5658"/>
              </a:lnSpc>
              <a:buNone/>
            </a:pPr>
            <a:r>
              <a:rPr sz="14106" b="1">
                <a:solidFill>
                  <a:srgbClr val="BF1218"/>
                </a:solidFill>
                <a:latin typeface="Cooper Hewitt Bold"/>
                <a:ea typeface="Cooper Hewitt Bold"/>
                <a:cs typeface="Cooper Hewitt Bold"/>
              </a:rPr>
              <a:t>YOU</a:t>
            </a:r>
          </a:p>
        </p:txBody>
      </p:sp>
    </p:spTree>
    <p:extLst>
      <p:ext uri="{BB962C8B-B14F-4D97-AF65-F5344CB8AC3E}">
        <p14:creationId xmlns:p14="http://schemas.microsoft.com/office/powerpoint/2010/main" val="24559404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2026-08-15T07:42:30.3140000Z</dcterms:created>
  <dcterms:modified xsi:type="dcterms:W3CDTF">2026-08-15T07:42:30.3140000Z</dcterms:modified>
</coreProperties>
</file>